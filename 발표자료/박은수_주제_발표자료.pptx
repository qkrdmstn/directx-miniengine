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75" r:id="rId7"/>
    <p:sldId id="276" r:id="rId8"/>
    <p:sldId id="278" r:id="rId9"/>
    <p:sldId id="277" r:id="rId10"/>
    <p:sldId id="279" r:id="rId11"/>
    <p:sldId id="262" r:id="rId12"/>
    <p:sldId id="263" r:id="rId13"/>
    <p:sldId id="264" r:id="rId14"/>
    <p:sldId id="280" r:id="rId15"/>
    <p:sldId id="268" r:id="rId16"/>
    <p:sldId id="267" r:id="rId17"/>
    <p:sldId id="269" r:id="rId18"/>
    <p:sldId id="266" r:id="rId19"/>
    <p:sldId id="270" r:id="rId20"/>
    <p:sldId id="271" r:id="rId21"/>
    <p:sldId id="272" r:id="rId22"/>
    <p:sldId id="273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778" autoAdjust="0"/>
  </p:normalViewPr>
  <p:slideViewPr>
    <p:cSldViewPr snapToGrid="0" snapToObjects="1">
      <p:cViewPr varScale="1">
        <p:scale>
          <a:sx n="122" d="100"/>
          <a:sy n="122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3812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353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31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75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2959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202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5702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B4E8"/>
          </a:solidFill>
          <a:ln w="12700">
            <a:solidFill>
              <a:srgbClr val="35B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847088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자유곡선 기반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메시 절단 시스템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822960" y="3959352"/>
            <a:ext cx="5120640" cy="0"/>
          </a:xfrm>
          <a:prstGeom prst="line">
            <a:avLst/>
          </a:prstGeom>
          <a:noFill/>
          <a:ln w="38100">
            <a:solidFill>
              <a:srgbClr val="35B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2611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7E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게임 환경에서의 실시간 메시 절단과 최적화 연구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248" y="6062472"/>
            <a:ext cx="24333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9CB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박은수 </a:t>
            </a:r>
            <a:r>
              <a:rPr lang="en-US" altLang="ko-KR" sz="1300" dirty="0">
                <a:solidFill>
                  <a:srgbClr val="9CB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</a:t>
            </a:r>
            <a:r>
              <a:rPr lang="ko-KR" altLang="en-US" sz="1300" dirty="0">
                <a:solidFill>
                  <a:srgbClr val="9CB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애니메이션</a:t>
            </a:r>
            <a:r>
              <a:rPr lang="en-US" altLang="ko-KR" sz="1300" dirty="0">
                <a:solidFill>
                  <a:srgbClr val="9CB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r>
              <a:rPr lang="ko-KR" altLang="en-US" sz="1300" dirty="0">
                <a:solidFill>
                  <a:srgbClr val="9CB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</a:t>
            </a:r>
            <a:endParaRPr lang="en-US" sz="1300" dirty="0"/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4D4FF869-0CDA-4373-B679-1607FD0A1128}"/>
              </a:ext>
            </a:extLst>
          </p:cNvPr>
          <p:cNvSpPr/>
          <p:nvPr/>
        </p:nvSpPr>
        <p:spPr>
          <a:xfrm>
            <a:off x="8917354" y="6056298"/>
            <a:ext cx="24333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300" dirty="0">
                <a:solidFill>
                  <a:srgbClr val="9CB9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연구 주제 발표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56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발표 목차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연구 배경부터 구현 방향, 검증 계획까지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0528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DIRECTX 12  /  MINIENGINE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148840"/>
            <a:ext cx="3538728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48716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50976" y="33375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연구 주제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0976" y="4114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주제 · 선정 이유 · 목표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98848" y="2148840"/>
            <a:ext cx="3538728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248716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791456" y="33375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연구 내용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91456" y="4114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선행 연구 · 접근 방법 · 주요 과제 · 검증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339328" y="2148840"/>
            <a:ext cx="3538728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31936" y="248716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631936" y="33375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연구 계획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631936" y="4114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8주 일정 · 참고문헌 · AI 활용 범위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56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RESEARCH TOPIC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연구 주제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사용자가 입력한 자유곡선을 이용한 3D 표면 메시 절단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0528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DIRECTX 12  /  MINIENGINE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075688"/>
            <a:ext cx="6812280" cy="3493008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103120"/>
            <a:ext cx="50292" cy="349300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2276856"/>
            <a:ext cx="6373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연구 주제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23544" y="2752344"/>
            <a:ext cx="63093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게임에서 사용 가능한 자유곡선 기반 3D 메시 절단 시스템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사용자가 입력한 자유곡선을 따라 삼각형 표면 메시를 절단하고, 분리된 서브메시의 열린 경계를 단면으로 채우는 시스템을 개발한다.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18120" y="2075688"/>
            <a:ext cx="3657600" cy="3493008"/>
          </a:xfrm>
          <a:prstGeom prst="roundRect">
            <a:avLst>
              <a:gd name="adj" fmla="val 3927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74736" y="2450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74736" y="2834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자유곡선 스트로크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345168" y="33467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174736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74736" y="432511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 err="1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서브메시</a:t>
            </a:r>
            <a:r>
              <a:rPr lang="ko-KR" altLang="en-US" sz="20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ko-KR" sz="20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</a:t>
            </a:r>
            <a:r>
              <a:rPr lang="en-US" sz="2000" b="1" dirty="0" err="1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분리된</a:t>
            </a:r>
            <a:r>
              <a:rPr lang="en-US" sz="20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메시 + </a:t>
            </a:r>
            <a:r>
              <a:rPr lang="en-US" sz="2000" b="1" dirty="0" err="1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단면</a:t>
            </a:r>
            <a:r>
              <a:rPr lang="en-US" sz="20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56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MOTIVATION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선정 이유 및 목표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454610"/>
            <a:ext cx="3651497" cy="99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표현의 자유도와 실행 성능을 함께 확보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0528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DIRECTX 12  /  MINIENGINE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057399"/>
            <a:ext cx="5303520" cy="3059797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057399"/>
            <a:ext cx="50292" cy="3059797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2258568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기존 방식의 표현 제약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23544" y="2734056"/>
            <a:ext cx="480060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대표적인 게임 절단 사례는 직선 또는 평면 형태의 절단 표현을 중심으로 구현되어 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2057399"/>
            <a:ext cx="5303520" cy="3059797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2057399"/>
            <a:ext cx="50292" cy="3059797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2258568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실시간 상호작용의 제약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37376" y="2734056"/>
            <a:ext cx="480060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미리 준비된 변형이나 제한된 절단 표현은 사용자가 직접 만드는 형상에 제약을 준다.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7324" y="5376670"/>
            <a:ext cx="10817352" cy="813817"/>
          </a:xfrm>
          <a:prstGeom prst="roundRect">
            <a:avLst>
              <a:gd name="adj" fmla="val 10606"/>
            </a:avLst>
          </a:prstGeom>
          <a:solidFill>
            <a:srgbClr val="10294B"/>
          </a:solidFill>
          <a:ln w="12700">
            <a:solidFill>
              <a:srgbClr val="1029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7364" y="551953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A5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연구 목표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2607564" y="547381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자유곡선 절단 구현  +  게임에서 사용 가능한 성능 확보</a:t>
            </a:r>
            <a:endParaRPr lang="en-US" sz="2300" dirty="0"/>
          </a:p>
        </p:txBody>
      </p:sp>
      <p:pic>
        <p:nvPicPr>
          <p:cNvPr id="1026" name="Picture 2" descr="NINJA GAIDEN 2 Black">
            <a:extLst>
              <a:ext uri="{FF2B5EF4-FFF2-40B4-BE49-F238E27FC236}">
                <a16:creationId xmlns:a16="http://schemas.microsoft.com/office/drawing/2014/main" id="{72448BA1-EB0C-4708-BE94-3EB1AE800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4668" y="3172147"/>
            <a:ext cx="1238583" cy="185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R 게임 킬러 타이틀 나왔다, '비트 세이버' 100만 장 판매 돌파">
            <a:extLst>
              <a:ext uri="{FF2B5EF4-FFF2-40B4-BE49-F238E27FC236}">
                <a16:creationId xmlns:a16="http://schemas.microsoft.com/office/drawing/2014/main" id="{857BFEC2-5121-4288-9530-79D3AA139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435" y="3341866"/>
            <a:ext cx="3002566" cy="1688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56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BASELINE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평면 절단 메커니즘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비교 기준이 되는 기본 절단 파이프라인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0528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DIRECTX 12  /  MINIENGINE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157984"/>
            <a:ext cx="2596896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304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" y="2697480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절단 평면 정의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282696" y="2633472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5B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529584" y="2157984"/>
            <a:ext cx="2596896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0752" y="2304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30752" y="2697480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삼각형 교차 검사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153912" y="2633472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5B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400800" y="2157984"/>
            <a:ext cx="2596896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2304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01968" y="2697480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교차점 기반 분할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58368" y="3913632"/>
            <a:ext cx="2596896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4059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9536" y="4453128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단면 생성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282696" y="4389120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5B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3529584" y="3913632"/>
            <a:ext cx="2596896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0752" y="4059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730752" y="4453128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경계 연결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153912" y="4389120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5B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6400800" y="3913632"/>
            <a:ext cx="2596896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1968" y="4059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01968" y="4453128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결과 메시 출력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56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BASELINE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평면 절단 메커니즘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비교 기준이 되는 기본 절단 파이프라인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0528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DIRECTX 12  /  MINIENGINE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866379"/>
            <a:ext cx="10603601" cy="546633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9" y="2012683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9406" y="1893810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절단 평면 정의</a:t>
            </a:r>
            <a:endParaRPr lang="en-US" altLang="ko-KR" sz="1700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0C6995FB-A3A9-4083-98B8-935723FC4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049" y="2917678"/>
            <a:ext cx="3122090" cy="2687045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337955AF-BEF1-45B8-9A94-6B147CF1D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87" y="2917678"/>
            <a:ext cx="3030806" cy="268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072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56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BASELINE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평면 절단 메커니즘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비교 기준이 되는 기본 절단 파이프라인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0528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DIRECTX 12  /  MINIENGINE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866379"/>
            <a:ext cx="10603601" cy="546633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9" y="2012683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39406" y="1893810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700" b="1" dirty="0" err="1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삼각형</a:t>
            </a:r>
            <a:r>
              <a:rPr lang="en-US" altLang="ko-KR" sz="17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r>
              <a:rPr lang="ko-KR" altLang="en-US" sz="17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평면</a:t>
            </a:r>
            <a:r>
              <a:rPr lang="en-US" altLang="ko-KR" sz="17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ko-KR" sz="1700" b="1" dirty="0" err="1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교차</a:t>
            </a:r>
            <a:r>
              <a:rPr lang="en-US" altLang="ko-KR" sz="17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ko-KR" sz="1700" b="1" dirty="0" err="1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검사</a:t>
            </a:r>
            <a:endParaRPr lang="en-US" altLang="ko-KR" sz="1700" dirty="0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337955AF-BEF1-45B8-9A94-6B147CF1D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715" y="2962003"/>
            <a:ext cx="3030806" cy="268999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A55DEA9-B802-4130-8075-8976F470B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924766"/>
            <a:ext cx="3210560" cy="286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684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56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BASELINE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평면 절단 메커니즘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비교 기준이 되는 기본 절단 파이프라인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0528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DIRECTX 12  /  MINIENGINE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866379"/>
            <a:ext cx="10603601" cy="546633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9" y="2012683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4732" y="1893810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700" b="1" dirty="0" err="1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교차점</a:t>
            </a:r>
            <a:r>
              <a:rPr lang="en-US" altLang="ko-KR" sz="17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ko-KR" sz="1700" b="1" dirty="0" err="1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기반</a:t>
            </a:r>
            <a:r>
              <a:rPr lang="en-US" altLang="ko-KR" sz="17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ko-KR" altLang="en-US" sz="17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삼각 </a:t>
            </a:r>
            <a:r>
              <a:rPr lang="en-US" altLang="ko-KR" sz="1700" b="1" dirty="0" err="1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분할</a:t>
            </a:r>
            <a:endParaRPr lang="en-US" altLang="ko-KR" sz="17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D778EF2-5319-45DA-9CBA-0195FA9E52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16"/>
          <a:stretch/>
        </p:blipFill>
        <p:spPr>
          <a:xfrm>
            <a:off x="2515678" y="3221412"/>
            <a:ext cx="2368938" cy="238085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B45E4E0-6FBC-4A85-8B78-A37864252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191" y="2996429"/>
            <a:ext cx="2695951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42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56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BASELINE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평면 절단 메커니즘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비교 기준이 되는 기본 절단 파이프라인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0528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DIRECTX 12  /  MINIENGINE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866379"/>
            <a:ext cx="10603601" cy="546633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9" y="2012683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</a:rPr>
              <a:t>04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4732" y="1893810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단면 생성</a:t>
            </a:r>
            <a:endParaRPr lang="en-US" altLang="ko-KR" sz="17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A9AD0DF-CCD7-4B15-A3C0-2EBF67D7B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257" y="2842347"/>
            <a:ext cx="3150205" cy="299899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E6E56EE-5A01-4E62-B1CD-68818B414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5373" y="3201664"/>
            <a:ext cx="6521787" cy="201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093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56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BASELINE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평면 절단 메커니즘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비교 기준이 되는 기본 절단 파이프라인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0528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DIRECTX 12  /  MINIENGINE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866379"/>
            <a:ext cx="4451013" cy="546633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9" y="2002535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</a:rPr>
              <a:t>05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4732" y="1883663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단면 연결</a:t>
            </a:r>
            <a:endParaRPr lang="en-US" altLang="ko-KR" sz="17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CDE7E31-40E5-45F1-BF20-97F241388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9" y="2788920"/>
            <a:ext cx="3903630" cy="3083013"/>
          </a:xfrm>
          <a:prstGeom prst="rect">
            <a:avLst/>
          </a:prstGeom>
        </p:spPr>
      </p:pic>
      <p:sp>
        <p:nvSpPr>
          <p:cNvPr id="16" name="Shape 7">
            <a:extLst>
              <a:ext uri="{FF2B5EF4-FFF2-40B4-BE49-F238E27FC236}">
                <a16:creationId xmlns:a16="http://schemas.microsoft.com/office/drawing/2014/main" id="{A42B88C8-28DC-4FEC-A1EC-AE39E3F881A8}"/>
              </a:ext>
            </a:extLst>
          </p:cNvPr>
          <p:cNvSpPr/>
          <p:nvPr/>
        </p:nvSpPr>
        <p:spPr>
          <a:xfrm>
            <a:off x="6225345" y="1866379"/>
            <a:ext cx="4451013" cy="546633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1F56355D-6F55-423E-8750-9B8934346483}"/>
              </a:ext>
            </a:extLst>
          </p:cNvPr>
          <p:cNvSpPr/>
          <p:nvPr/>
        </p:nvSpPr>
        <p:spPr>
          <a:xfrm>
            <a:off x="6426514" y="2002535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</a:rPr>
              <a:t>06</a:t>
            </a:r>
            <a:endParaRPr lang="en-US" sz="13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1EE91F39-9855-4EBD-83B0-889809019555}"/>
              </a:ext>
            </a:extLst>
          </p:cNvPr>
          <p:cNvSpPr/>
          <p:nvPr/>
        </p:nvSpPr>
        <p:spPr>
          <a:xfrm>
            <a:off x="6805717" y="1883663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 err="1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서브메시</a:t>
            </a:r>
            <a:r>
              <a:rPr lang="ko-KR" altLang="en-US" sz="17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결과 출력</a:t>
            </a:r>
            <a:endParaRPr lang="en-US" altLang="ko-KR" sz="170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72A569A0-36DF-4613-A91E-5998D2FAF0B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97"/>
          <a:stretch/>
        </p:blipFill>
        <p:spPr>
          <a:xfrm>
            <a:off x="5294360" y="3040184"/>
            <a:ext cx="6207933" cy="287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978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56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APPROACH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연구 </a:t>
            </a:r>
            <a:r>
              <a:rPr lang="en-US" sz="2800" b="1" dirty="0" err="1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방향</a:t>
            </a:r>
            <a:r>
              <a:rPr 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1 — </a:t>
            </a:r>
            <a:r>
              <a:rPr lang="ko-KR" alt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평면 </a:t>
            </a:r>
            <a:r>
              <a:rPr lang="en-US" altLang="ko-KR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 </a:t>
            </a:r>
            <a:r>
              <a:rPr lang="ko-KR" alt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곡선으로의 확장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평면 기반 시스템을 곡선 형태로 확장하기 위한 후보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0528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DIRECTX 12  /  MINIENGINE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06784" y="2157984"/>
            <a:ext cx="3447288" cy="3995927"/>
          </a:xfrm>
          <a:prstGeom prst="roundRect">
            <a:avLst>
              <a:gd name="adj" fmla="val 402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544" y="2287794"/>
            <a:ext cx="402336" cy="329184"/>
          </a:xfrm>
          <a:prstGeom prst="roundRect">
            <a:avLst>
              <a:gd name="adj" fmla="val 20000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37923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72670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곡선 샘플링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32688" y="2984220"/>
            <a:ext cx="2898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복수의 평면 절단으로 근사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91816" y="2157984"/>
            <a:ext cx="3447288" cy="3995923"/>
          </a:xfrm>
          <a:prstGeom prst="roundRect">
            <a:avLst>
              <a:gd name="adj" fmla="val 402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08576" y="2287794"/>
            <a:ext cx="402336" cy="329184"/>
          </a:xfrm>
          <a:prstGeom prst="roundRect">
            <a:avLst>
              <a:gd name="adj" fmla="val 20000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37923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7720" y="272670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곡면 직접 정의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2984220"/>
            <a:ext cx="2898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곡면과 삼각형의 교차를 계산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76848" y="2157984"/>
            <a:ext cx="3447288" cy="3995921"/>
          </a:xfrm>
          <a:prstGeom prst="roundRect">
            <a:avLst>
              <a:gd name="adj" fmla="val 402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93608" y="2287794"/>
            <a:ext cx="402336" cy="329184"/>
          </a:xfrm>
          <a:prstGeom prst="roundRect">
            <a:avLst>
              <a:gd name="adj" fmla="val 20000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39912" y="237923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02752" y="272670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Mesh Boolean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02752" y="2984220"/>
            <a:ext cx="3218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닫힌 곡면 도구를 만들어 집합 연산</a:t>
            </a:r>
            <a:endParaRPr lang="en-US" sz="1600" dirty="0"/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3ED648F6-3B55-4A0E-B73B-13F533D8E296}"/>
              </a:ext>
            </a:extLst>
          </p:cNvPr>
          <p:cNvSpPr/>
          <p:nvPr/>
        </p:nvSpPr>
        <p:spPr>
          <a:xfrm>
            <a:off x="1069848" y="4252211"/>
            <a:ext cx="2384865" cy="1385800"/>
          </a:xfrm>
          <a:custGeom>
            <a:avLst/>
            <a:gdLst>
              <a:gd name="connsiteX0" fmla="*/ 0 w 1156677"/>
              <a:gd name="connsiteY0" fmla="*/ 672123 h 672123"/>
              <a:gd name="connsiteX1" fmla="*/ 257908 w 1156677"/>
              <a:gd name="connsiteY1" fmla="*/ 273538 h 672123"/>
              <a:gd name="connsiteX2" fmla="*/ 687754 w 1156677"/>
              <a:gd name="connsiteY2" fmla="*/ 578338 h 672123"/>
              <a:gd name="connsiteX3" fmla="*/ 1156677 w 1156677"/>
              <a:gd name="connsiteY3" fmla="*/ 0 h 672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6677" h="672123">
                <a:moveTo>
                  <a:pt x="0" y="672123"/>
                </a:moveTo>
                <a:cubicBezTo>
                  <a:pt x="71641" y="480646"/>
                  <a:pt x="143282" y="289169"/>
                  <a:pt x="257908" y="273538"/>
                </a:cubicBezTo>
                <a:cubicBezTo>
                  <a:pt x="372534" y="257907"/>
                  <a:pt x="537959" y="623928"/>
                  <a:pt x="687754" y="578338"/>
                </a:cubicBezTo>
                <a:cubicBezTo>
                  <a:pt x="837549" y="532748"/>
                  <a:pt x="1064195" y="114625"/>
                  <a:pt x="1156677" y="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D4D053A5-BA9E-42A3-B8D1-D0A25460AD56}"/>
              </a:ext>
            </a:extLst>
          </p:cNvPr>
          <p:cNvSpPr/>
          <p:nvPr/>
        </p:nvSpPr>
        <p:spPr>
          <a:xfrm>
            <a:off x="3378122" y="4204282"/>
            <a:ext cx="153182" cy="15318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048E2C09-DA45-4271-8171-F5D492924BE6}"/>
              </a:ext>
            </a:extLst>
          </p:cNvPr>
          <p:cNvSpPr/>
          <p:nvPr/>
        </p:nvSpPr>
        <p:spPr>
          <a:xfrm>
            <a:off x="3147568" y="4524870"/>
            <a:ext cx="153182" cy="15318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F5A9A6F3-B0A2-4173-A9E3-0C1534083FF9}"/>
              </a:ext>
            </a:extLst>
          </p:cNvPr>
          <p:cNvSpPr/>
          <p:nvPr/>
        </p:nvSpPr>
        <p:spPr>
          <a:xfrm>
            <a:off x="2917014" y="4845458"/>
            <a:ext cx="153182" cy="15318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F3D9EB53-19F9-4C94-8F51-51EC826F46EB}"/>
              </a:ext>
            </a:extLst>
          </p:cNvPr>
          <p:cNvSpPr/>
          <p:nvPr/>
        </p:nvSpPr>
        <p:spPr>
          <a:xfrm>
            <a:off x="2686460" y="5166046"/>
            <a:ext cx="153182" cy="15318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641731E0-AC58-47A8-A0B6-A3FE5D8B79F8}"/>
              </a:ext>
            </a:extLst>
          </p:cNvPr>
          <p:cNvSpPr/>
          <p:nvPr/>
        </p:nvSpPr>
        <p:spPr>
          <a:xfrm>
            <a:off x="2533278" y="5319228"/>
            <a:ext cx="153182" cy="15318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FCE4A802-0F0F-447D-B11F-F390C98001A3}"/>
              </a:ext>
            </a:extLst>
          </p:cNvPr>
          <p:cNvSpPr/>
          <p:nvPr/>
        </p:nvSpPr>
        <p:spPr>
          <a:xfrm>
            <a:off x="2303505" y="5394060"/>
            <a:ext cx="153182" cy="15318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5B3D7030-8600-49B7-8CE0-E10366D1A9D8}"/>
              </a:ext>
            </a:extLst>
          </p:cNvPr>
          <p:cNvSpPr/>
          <p:nvPr/>
        </p:nvSpPr>
        <p:spPr>
          <a:xfrm>
            <a:off x="2121973" y="5242637"/>
            <a:ext cx="153182" cy="15318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6E69DBDE-5285-4125-A67B-FBC27C3ECDE1}"/>
              </a:ext>
            </a:extLst>
          </p:cNvPr>
          <p:cNvSpPr/>
          <p:nvPr/>
        </p:nvSpPr>
        <p:spPr>
          <a:xfrm>
            <a:off x="1940441" y="5091214"/>
            <a:ext cx="153182" cy="15318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40D38BFD-0486-4CBE-8A6B-5A953D819E77}"/>
              </a:ext>
            </a:extLst>
          </p:cNvPr>
          <p:cNvSpPr/>
          <p:nvPr/>
        </p:nvSpPr>
        <p:spPr>
          <a:xfrm>
            <a:off x="1763658" y="4889381"/>
            <a:ext cx="153182" cy="15318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B9E6835D-F60B-49B1-B32A-0B1C34D06B00}"/>
              </a:ext>
            </a:extLst>
          </p:cNvPr>
          <p:cNvSpPr/>
          <p:nvPr/>
        </p:nvSpPr>
        <p:spPr>
          <a:xfrm>
            <a:off x="1525914" y="4764139"/>
            <a:ext cx="153182" cy="15318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472E7EDE-6864-4A03-AC08-A32633F0B431}"/>
              </a:ext>
            </a:extLst>
          </p:cNvPr>
          <p:cNvSpPr/>
          <p:nvPr/>
        </p:nvSpPr>
        <p:spPr>
          <a:xfrm>
            <a:off x="1315329" y="4910486"/>
            <a:ext cx="153182" cy="15318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77A1F3ED-D109-429A-AB4C-E66582FFEF06}"/>
              </a:ext>
            </a:extLst>
          </p:cNvPr>
          <p:cNvSpPr/>
          <p:nvPr/>
        </p:nvSpPr>
        <p:spPr>
          <a:xfrm>
            <a:off x="1169843" y="5154511"/>
            <a:ext cx="153182" cy="15318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E3BB0769-015B-48A7-BE9A-1EACFA1BDED1}"/>
              </a:ext>
            </a:extLst>
          </p:cNvPr>
          <p:cNvSpPr/>
          <p:nvPr/>
        </p:nvSpPr>
        <p:spPr>
          <a:xfrm>
            <a:off x="1030704" y="5442946"/>
            <a:ext cx="153182" cy="153182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미분기하학 특강] 8강. 곡면의 기하학 (3) 곡면의 법곡률(1) : 네이버 블로그">
            <a:extLst>
              <a:ext uri="{FF2B5EF4-FFF2-40B4-BE49-F238E27FC236}">
                <a16:creationId xmlns:a16="http://schemas.microsoft.com/office/drawing/2014/main" id="{FA219A55-D976-40FD-9B4D-F15648344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665" y="3781175"/>
            <a:ext cx="2030640" cy="224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9724978D-4D6D-493F-97CA-D6E083E9F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921" y="4041239"/>
            <a:ext cx="2967181" cy="15366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56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BOTTLENECK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평면 시스템의</a:t>
            </a:r>
            <a:r>
              <a:rPr 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800" b="1" dirty="0" err="1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병목</a:t>
            </a:r>
            <a:r>
              <a:rPr 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구간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실제 구현 및 프로파일링으로 검증할 가설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0528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DIRECTX 12  /  MINIENGINE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039112"/>
            <a:ext cx="10817352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039112"/>
            <a:ext cx="50292" cy="106984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22402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교차 검사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23544" y="2715768"/>
            <a:ext cx="10314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절단</a:t>
            </a: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ko-KR" alt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평면과</a:t>
            </a: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메시 삼각형의 교차 판정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300984"/>
            <a:ext cx="10817352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300984"/>
            <a:ext cx="50292" cy="106984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50215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서브메시 생성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23544" y="3977640"/>
            <a:ext cx="10314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교차점을 포함한 </a:t>
            </a:r>
            <a:r>
              <a:rPr lang="en-US" sz="1400" dirty="0" err="1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삼각형</a:t>
            </a: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분할</a:t>
            </a: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ko-KR" alt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과정에서의 </a:t>
            </a:r>
            <a:r>
              <a:rPr lang="en-US" sz="1400" dirty="0" err="1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정점·인덱스</a:t>
            </a: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구성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4562856"/>
            <a:ext cx="10817352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4562856"/>
            <a:ext cx="50292" cy="106984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" y="476402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단면 병합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23544" y="5239512"/>
            <a:ext cx="10314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단면</a:t>
            </a: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메시 생성 및 경계 연결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605332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※ 병목의 비중과 원인은 대상 모델·알고리즘·구현에 따라 달라지므로 자체 계측으로 확인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56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TASKS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주요 연구 과제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측정 결과를 바탕으로 우선순위를 조정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0528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DIRECTX 12  /  MINIENGINE</a:t>
            </a:r>
            <a:endParaRPr lang="en-US" sz="900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60BCD914-9AD7-45CE-A9D4-2AAE7BB5E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41439"/>
            <a:ext cx="5962748" cy="2910557"/>
          </a:xfrm>
          <a:prstGeom prst="rect">
            <a:avLst/>
          </a:prstGeom>
        </p:spPr>
      </p:pic>
      <p:sp>
        <p:nvSpPr>
          <p:cNvPr id="31" name="Shape 7">
            <a:extLst>
              <a:ext uri="{FF2B5EF4-FFF2-40B4-BE49-F238E27FC236}">
                <a16:creationId xmlns:a16="http://schemas.microsoft.com/office/drawing/2014/main" id="{3F67853C-3917-49DF-A887-A6199C97D5CD}"/>
              </a:ext>
            </a:extLst>
          </p:cNvPr>
          <p:cNvSpPr/>
          <p:nvPr/>
        </p:nvSpPr>
        <p:spPr>
          <a:xfrm>
            <a:off x="594360" y="1866379"/>
            <a:ext cx="10881360" cy="546633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A7CDFD3F-7903-47F1-BF5E-249264FC32CB}"/>
              </a:ext>
            </a:extLst>
          </p:cNvPr>
          <p:cNvSpPr/>
          <p:nvPr/>
        </p:nvSpPr>
        <p:spPr>
          <a:xfrm>
            <a:off x="1934617" y="1880511"/>
            <a:ext cx="75863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18314E"/>
                </a:solidFill>
                <a:latin typeface="Aptos" pitchFamily="34" charset="0"/>
              </a:rPr>
              <a:t>실제 자유곡선 절단에 관한 논문에서도 평면 시스템과 유사한 병목을 보인다</a:t>
            </a:r>
            <a:r>
              <a:rPr lang="en-US" altLang="ko-KR" sz="1700" b="1" dirty="0">
                <a:solidFill>
                  <a:srgbClr val="18314E"/>
                </a:solidFill>
                <a:latin typeface="Aptos" pitchFamily="34" charset="0"/>
              </a:rPr>
              <a:t>.</a:t>
            </a:r>
            <a:r>
              <a:rPr lang="ko-KR" altLang="en-US" sz="1700" b="1" dirty="0">
                <a:solidFill>
                  <a:srgbClr val="18314E"/>
                </a:solidFill>
                <a:latin typeface="Aptos" pitchFamily="34" charset="0"/>
              </a:rPr>
              <a:t> </a:t>
            </a:r>
            <a:endParaRPr lang="en-US" altLang="ko-KR" sz="170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4DDB9617-7808-4DC6-9563-EF601F0B3CF6}"/>
              </a:ext>
            </a:extLst>
          </p:cNvPr>
          <p:cNvSpPr/>
          <p:nvPr/>
        </p:nvSpPr>
        <p:spPr>
          <a:xfrm>
            <a:off x="6814234" y="2885964"/>
            <a:ext cx="4506038" cy="273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AutoNum type="arabicPeriod"/>
            </a:pPr>
            <a:r>
              <a:rPr lang="ko-KR" altLang="en-US" sz="1700" b="1" dirty="0" err="1">
                <a:solidFill>
                  <a:srgbClr val="18314E"/>
                </a:solidFill>
                <a:latin typeface="Aptos" pitchFamily="34" charset="0"/>
              </a:rPr>
              <a:t>하이폴리</a:t>
            </a:r>
            <a:r>
              <a:rPr lang="ko-KR" altLang="en-US" sz="1700" b="1" dirty="0">
                <a:solidFill>
                  <a:srgbClr val="18314E"/>
                </a:solidFill>
                <a:latin typeface="Aptos" pitchFamily="34" charset="0"/>
              </a:rPr>
              <a:t> 메시에서 메시 병합</a:t>
            </a:r>
            <a:r>
              <a:rPr lang="en-US" altLang="ko-KR" sz="1700" b="1" dirty="0">
                <a:solidFill>
                  <a:srgbClr val="18314E"/>
                </a:solidFill>
                <a:latin typeface="Aptos" pitchFamily="34" charset="0"/>
              </a:rPr>
              <a:t>, </a:t>
            </a:r>
            <a:r>
              <a:rPr lang="ko-KR" altLang="en-US" sz="1700" b="1" dirty="0">
                <a:solidFill>
                  <a:srgbClr val="18314E"/>
                </a:solidFill>
                <a:latin typeface="Aptos" pitchFamily="34" charset="0"/>
              </a:rPr>
              <a:t>분할 과정에 높은 병목이 발생한다</a:t>
            </a:r>
            <a:r>
              <a:rPr lang="en-US" altLang="ko-KR" sz="1700" b="1" dirty="0">
                <a:solidFill>
                  <a:srgbClr val="18314E"/>
                </a:solidFill>
                <a:latin typeface="Aptos" pitchFamily="34" charset="0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700" b="1" dirty="0">
              <a:solidFill>
                <a:srgbClr val="18314E"/>
              </a:solidFill>
              <a:latin typeface="Aptos" pitchFamily="34" charset="0"/>
            </a:endParaRPr>
          </a:p>
          <a:p>
            <a:pPr marL="342900" indent="-342900">
              <a:buAutoNum type="arabicPeriod"/>
            </a:pPr>
            <a:r>
              <a:rPr lang="ko-KR" altLang="en-US" sz="1700" b="1" dirty="0" err="1">
                <a:solidFill>
                  <a:srgbClr val="18314E"/>
                </a:solidFill>
                <a:latin typeface="Aptos" pitchFamily="34" charset="0"/>
              </a:rPr>
              <a:t>로우폴리</a:t>
            </a:r>
            <a:r>
              <a:rPr lang="ko-KR" altLang="en-US" sz="1700" b="1" dirty="0">
                <a:solidFill>
                  <a:srgbClr val="18314E"/>
                </a:solidFill>
                <a:latin typeface="Aptos" pitchFamily="34" charset="0"/>
              </a:rPr>
              <a:t> 메시에서는 교차점 검사에 많은 비용이 든다</a:t>
            </a:r>
            <a:r>
              <a:rPr lang="en-US" altLang="ko-KR" sz="1700" b="1" dirty="0">
                <a:solidFill>
                  <a:srgbClr val="18314E"/>
                </a:solidFill>
                <a:latin typeface="Aptos" pitchFamily="34" charset="0"/>
              </a:rPr>
              <a:t>.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778E5B9-725A-4699-BCA2-347F406A38B3}"/>
              </a:ext>
            </a:extLst>
          </p:cNvPr>
          <p:cNvSpPr/>
          <p:nvPr/>
        </p:nvSpPr>
        <p:spPr>
          <a:xfrm>
            <a:off x="5848350" y="3111500"/>
            <a:ext cx="482600" cy="254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6B012A9-546F-4F1E-BB95-845B1BD67947}"/>
              </a:ext>
            </a:extLst>
          </p:cNvPr>
          <p:cNvSpPr/>
          <p:nvPr/>
        </p:nvSpPr>
        <p:spPr>
          <a:xfrm>
            <a:off x="5552440" y="4775200"/>
            <a:ext cx="482600" cy="254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A60AFBD-74E6-4952-9250-7FE60F79F27D}"/>
              </a:ext>
            </a:extLst>
          </p:cNvPr>
          <p:cNvSpPr/>
          <p:nvPr/>
        </p:nvSpPr>
        <p:spPr>
          <a:xfrm>
            <a:off x="5552440" y="5224509"/>
            <a:ext cx="482600" cy="18237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824B171-1938-4B22-9F4B-D654E550BE99}"/>
              </a:ext>
            </a:extLst>
          </p:cNvPr>
          <p:cNvSpPr/>
          <p:nvPr/>
        </p:nvSpPr>
        <p:spPr>
          <a:xfrm>
            <a:off x="1619250" y="3124107"/>
            <a:ext cx="482600" cy="254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2B603ED-DB76-452A-9B31-10FD5747F705}"/>
              </a:ext>
            </a:extLst>
          </p:cNvPr>
          <p:cNvSpPr/>
          <p:nvPr/>
        </p:nvSpPr>
        <p:spPr>
          <a:xfrm>
            <a:off x="2292350" y="4775200"/>
            <a:ext cx="374650" cy="127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BAFD6E90-99BD-46E1-A7D9-AD8EC5EEF6DF}"/>
              </a:ext>
            </a:extLst>
          </p:cNvPr>
          <p:cNvCxnSpPr>
            <a:cxnSpLocks/>
          </p:cNvCxnSpPr>
          <p:nvPr/>
        </p:nvCxnSpPr>
        <p:spPr>
          <a:xfrm>
            <a:off x="1860550" y="3429000"/>
            <a:ext cx="482600" cy="12509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06D8030C-677F-4F51-B83E-605CDC0558FA}"/>
              </a:ext>
            </a:extLst>
          </p:cNvPr>
          <p:cNvCxnSpPr>
            <a:cxnSpLocks/>
          </p:cNvCxnSpPr>
          <p:nvPr/>
        </p:nvCxnSpPr>
        <p:spPr>
          <a:xfrm flipH="1">
            <a:off x="6035040" y="3378107"/>
            <a:ext cx="45720" cy="13018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56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TASKS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주요 연구 과제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측정 결과를 바탕으로 우선순위를 조정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0528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DIRECTX 12  /  MINIENGINE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94944" y="2011680"/>
            <a:ext cx="5276088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2768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90472" y="22037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메시 생성·병합 데이터 구조 개선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08776" y="2011680"/>
            <a:ext cx="5276088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9944" y="22768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004304" y="22037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공유 에지 교차 결과 재사용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94944" y="3337560"/>
            <a:ext cx="5276088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6027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90472" y="3529584"/>
            <a:ext cx="4206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서브메시 생성 및 단면 병합 병렬화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08776" y="3337560"/>
            <a:ext cx="5276088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36027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04304" y="3529584"/>
            <a:ext cx="4206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후보 탐색과 BVH 구성·갱신 개선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94944" y="4663440"/>
            <a:ext cx="5276088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92861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90472" y="485546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GPU에 적합한 자료구조 및 처리 설계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08776" y="4663440"/>
            <a:ext cx="5276088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492861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04304" y="485546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기본 연산 구조 자체의 개선</a:t>
            </a:r>
            <a:endParaRPr lang="en-US" sz="170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9405B029-8B6E-4502-9BA4-F2285AB0549D}"/>
              </a:ext>
            </a:extLst>
          </p:cNvPr>
          <p:cNvSpPr/>
          <p:nvPr/>
        </p:nvSpPr>
        <p:spPr>
          <a:xfrm>
            <a:off x="1490472" y="2722255"/>
            <a:ext cx="437106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고해상도 모델에서의 성능 개선</a:t>
            </a:r>
            <a:endParaRPr lang="en-US" sz="140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6208F935-53E1-4CE2-BE02-61810CF329A5}"/>
              </a:ext>
            </a:extLst>
          </p:cNvPr>
          <p:cNvSpPr/>
          <p:nvPr/>
        </p:nvSpPr>
        <p:spPr>
          <a:xfrm>
            <a:off x="7004304" y="2719910"/>
            <a:ext cx="437106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기반이 되는 자유곡선 논문 방식의 연산 방식 개선</a:t>
            </a:r>
            <a:endParaRPr lang="en-US" sz="14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1102C701-1920-46D8-8996-9BED5E3B1037}"/>
              </a:ext>
            </a:extLst>
          </p:cNvPr>
          <p:cNvSpPr/>
          <p:nvPr/>
        </p:nvSpPr>
        <p:spPr>
          <a:xfrm>
            <a:off x="7013331" y="3989793"/>
            <a:ext cx="437106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BVH</a:t>
            </a:r>
            <a:r>
              <a:rPr lang="ko-KR" alt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를 활용한 교차 검사 후보 필터링</a:t>
            </a:r>
            <a:endParaRPr lang="en-US" sz="14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6C9E19E4-78A6-424F-86AC-2B485F266EE5}"/>
              </a:ext>
            </a:extLst>
          </p:cNvPr>
          <p:cNvSpPr/>
          <p:nvPr/>
        </p:nvSpPr>
        <p:spPr>
          <a:xfrm>
            <a:off x="7013331" y="5358423"/>
            <a:ext cx="437106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기반 연구를 따르되</a:t>
            </a:r>
            <a:r>
              <a:rPr lang="en-US" altLang="ko-KR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ko-KR" alt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다양한 접근 방법도 시도</a:t>
            </a:r>
            <a:endParaRPr lang="en-US" sz="14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63EAB458-090E-467C-A862-7111B5BB146D}"/>
              </a:ext>
            </a:extLst>
          </p:cNvPr>
          <p:cNvSpPr/>
          <p:nvPr/>
        </p:nvSpPr>
        <p:spPr>
          <a:xfrm>
            <a:off x="1490472" y="5358423"/>
            <a:ext cx="437106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메시라는 데이터 형태와 계산식을 고려한 데이터 구조 설계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193147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56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PROFILING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프로파일링 기준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· GPU · 전체 완료 지연을 분리해 측정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0528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DIRECTX 12  /  MINIENGINE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048256"/>
            <a:ext cx="5266944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048256"/>
            <a:ext cx="50292" cy="1627632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2249424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처리 시간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23544" y="2724912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교차 검사 / 분할 / 단면 / 병합 / 출력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08776" y="2048256"/>
            <a:ext cx="5266944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08776" y="2048256"/>
            <a:ext cx="50292" cy="1627632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249424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모델 복잡도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46520" y="2724912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전체 삼각형 수 / 후보 면 수 / 경계 복잡도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913632"/>
            <a:ext cx="5266944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913632"/>
            <a:ext cx="50292" cy="1627632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" y="4114800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메모리 비용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23544" y="4590288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할당 횟수 / 복사량 / 버퍼 사용량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08776" y="3913632"/>
            <a:ext cx="5266944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08776" y="3913632"/>
            <a:ext cx="50292" cy="1627632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114800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프레임 영향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46520" y="4590288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프레임 타임 / P95 / 동기화 및 대기 시간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56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EXPECTED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예상 결과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초기 목표는 실험 조건과 함께 검증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0528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DIRECTX 12  /  MINIENGINE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2130552"/>
            <a:ext cx="4937760" cy="3172968"/>
          </a:xfrm>
          <a:prstGeom prst="roundRect">
            <a:avLst>
              <a:gd name="adj" fmla="val 4323"/>
            </a:avLst>
          </a:prstGeom>
          <a:solidFill>
            <a:srgbClr val="10294B"/>
          </a:solidFill>
          <a:ln w="12700">
            <a:solidFill>
              <a:srgbClr val="1029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615184"/>
            <a:ext cx="4297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50,000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1051560" y="3456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9D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삼각형 기준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51560" y="41970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100ms 이내 처리 — 초기 목표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16168" y="2130552"/>
            <a:ext cx="5541264" cy="3172968"/>
          </a:xfrm>
          <a:prstGeom prst="roundRect">
            <a:avLst>
              <a:gd name="adj" fmla="val 345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16168" y="2130552"/>
            <a:ext cx="50292" cy="317296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2331720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실시간 대응 방향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153912" y="2807208"/>
            <a:ext cx="5038344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완료 지연뿐 아니라 프레임당 CPU/GPU 부담을 측정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목표 미달 시 </a:t>
            </a:r>
            <a:r>
              <a:rPr lang="ko-KR" alt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프레임 단위 </a:t>
            </a:r>
            <a:r>
              <a:rPr lang="en-US" sz="1400" dirty="0" err="1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작업</a:t>
            </a: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분할, 비동기 처리, 결과 반영 지연 등을 검토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0664" y="576986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※ 100ms는 측정 전 목표이며 실시간 프레임 예산과 동일한 의미는 아님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56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LIMITATIONS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예상 한계점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초기 지원 범위를 명확히 설정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0528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DIRECTX 12  /  MINIENGINE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057400"/>
            <a:ext cx="5266944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057400"/>
            <a:ext cx="50292" cy="1627632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225856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볼륨 메시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23544" y="2734056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사면체 기반 부피 메시 </a:t>
            </a:r>
            <a:r>
              <a:rPr lang="en-US" sz="1400" dirty="0" err="1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절단은</a:t>
            </a: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ko-KR" alt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실시간 시뮬레이션 </a:t>
            </a:r>
            <a:r>
              <a:rPr lang="en-US" altLang="ko-KR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08776" y="2057400"/>
            <a:ext cx="5266944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08776" y="2057400"/>
            <a:ext cx="50292" cy="1627632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25856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물리 제약 유지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46520" y="2734056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PBD 등의 제약 갱신은 초기 구현 범위 밖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931920"/>
            <a:ext cx="5266944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931920"/>
            <a:ext cx="50292" cy="1627632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" y="413308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부분 절개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23544" y="4608576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얕은 베임과 내부에서 끝나는 균열 제외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08776" y="3931920"/>
            <a:ext cx="5266944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08776" y="3931920"/>
            <a:ext cx="50292" cy="1627632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13308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강건성 및 성능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46520" y="4608576"/>
            <a:ext cx="4764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복잡한 곡선·반복 절단에서 비용 및 오류 가능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56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SCALABILITY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확장 가능성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8주 필수 구현과 구분되는 후속 연구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0528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DIRECTX 12  /  MINIENGINE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94944" y="2221992"/>
            <a:ext cx="342900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2221992"/>
            <a:ext cx="50292" cy="2971800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423160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부분 절개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2898648"/>
            <a:ext cx="29260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얕은 베임 및 내부에서 끝나는 절개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79976" y="2221992"/>
            <a:ext cx="342900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9976" y="2221992"/>
            <a:ext cx="50292" cy="2971800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423160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물리 시뮬레이션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7720" y="2898648"/>
            <a:ext cx="29260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PBD 등 변형 가능한 메시와 결합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65008" y="2221992"/>
            <a:ext cx="342900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65008" y="2221992"/>
            <a:ext cx="50292" cy="2971800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2752" y="2423160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내부 표현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02752" y="28986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단면 텍스처 및 재료별 내부 표현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050" name="Picture 2" descr="Simulation of Stable Cloth on Triangular Mesh via LOD-Based Bending Springs  on Strain-Based Dynamics">
            <a:extLst>
              <a:ext uri="{FF2B5EF4-FFF2-40B4-BE49-F238E27FC236}">
                <a16:creationId xmlns:a16="http://schemas.microsoft.com/office/drawing/2014/main" id="{0B426BB9-10AC-4664-9308-0DA22B7AA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149" y="3273553"/>
            <a:ext cx="1677162" cy="1833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A853E84-80B7-4823-87C3-A848EEF05C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716" b="8680"/>
          <a:stretch/>
        </p:blipFill>
        <p:spPr>
          <a:xfrm rot="5400000">
            <a:off x="9097783" y="2902899"/>
            <a:ext cx="1413741" cy="2626166"/>
          </a:xfrm>
          <a:prstGeom prst="rect">
            <a:avLst/>
          </a:prstGeom>
        </p:spPr>
      </p:pic>
      <p:pic>
        <p:nvPicPr>
          <p:cNvPr id="2052" name="Picture 4" descr="티뷰(TVIEW) 절개 레이어드 스너그 티셔츠_V6C-CTS020 - 사이즈 &amp; 후기 | 무신사">
            <a:extLst>
              <a:ext uri="{FF2B5EF4-FFF2-40B4-BE49-F238E27FC236}">
                <a16:creationId xmlns:a16="http://schemas.microsoft.com/office/drawing/2014/main" id="{EF8B21F7-A098-4056-B3D1-F3D86EFF4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849" y="3282695"/>
            <a:ext cx="1739275" cy="173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56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8주 연구 계획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기준 구현 → 자유곡선 확장 → 최적화 → 평가 및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0528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DIRECTX 12  /  MINIENGINE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04088" y="1938528"/>
            <a:ext cx="658368" cy="365760"/>
          </a:xfrm>
          <a:prstGeom prst="roundRect">
            <a:avLst>
              <a:gd name="adj" fmla="val 15000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0025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18488" y="1956816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문헌 조사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04088" y="2414016"/>
            <a:ext cx="658368" cy="365760"/>
          </a:xfrm>
          <a:prstGeom prst="roundRect">
            <a:avLst>
              <a:gd name="adj" fmla="val 15000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4780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18488" y="2432304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dirty="0">
                <a:latin typeface="Aptos"/>
              </a:rPr>
              <a:t>미니엔진으로 평면 절단 구현 실제 병목 지점 확인</a:t>
            </a:r>
            <a:endParaRPr lang="en-US" sz="1600" dirty="0"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04088" y="2889504"/>
            <a:ext cx="658368" cy="365760"/>
          </a:xfrm>
          <a:prstGeom prst="roundRect">
            <a:avLst>
              <a:gd name="adj" fmla="val 15000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29535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18487" y="2907792"/>
            <a:ext cx="80960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600" dirty="0"/>
              <a:t>CPU </a:t>
            </a:r>
            <a:r>
              <a:rPr lang="ko-KR" altLang="en-US" sz="1600" dirty="0">
                <a:latin typeface="Aptos"/>
              </a:rPr>
              <a:t>다양한</a:t>
            </a:r>
            <a:r>
              <a:rPr lang="ko-KR" altLang="en-US" sz="1600" dirty="0"/>
              <a:t> 곡선 절단 방법의 비교를 통해 자유 곡선 절단이 가능한 시스템으로 확장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04088" y="3364992"/>
            <a:ext cx="658368" cy="365760"/>
          </a:xfrm>
          <a:prstGeom prst="roundRect">
            <a:avLst>
              <a:gd name="adj" fmla="val 15000"/>
            </a:avLst>
          </a:prstGeom>
          <a:solidFill>
            <a:srgbClr val="D9EDFF"/>
          </a:solidFill>
          <a:ln w="12700">
            <a:solidFill>
              <a:srgbClr val="D9ED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4290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18488" y="338328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병목</a:t>
            </a:r>
            <a:r>
              <a:rPr lang="en-US" sz="16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b="1" dirty="0" err="1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분석</a:t>
            </a:r>
            <a:r>
              <a:rPr lang="en-US" sz="16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ko-KR" altLang="en-US" sz="16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및 </a:t>
            </a:r>
            <a:r>
              <a:rPr lang="en-US" sz="1600" b="1" dirty="0" err="1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병렬화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4088" y="3840480"/>
            <a:ext cx="658368" cy="365760"/>
          </a:xfrm>
          <a:prstGeom prst="roundRect">
            <a:avLst>
              <a:gd name="adj" fmla="val 15000"/>
            </a:avLst>
          </a:prstGeom>
          <a:solidFill>
            <a:srgbClr val="D9EDFF"/>
          </a:solidFill>
          <a:ln w="12700">
            <a:solidFill>
              <a:srgbClr val="D9E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9044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18488" y="3858768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성능 확인·프레임 대응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4088" y="4315968"/>
            <a:ext cx="658368" cy="365760"/>
          </a:xfrm>
          <a:prstGeom prst="roundRect">
            <a:avLst>
              <a:gd name="adj" fmla="val 15000"/>
            </a:avLst>
          </a:prstGeom>
          <a:solidFill>
            <a:srgbClr val="D9EDFF"/>
          </a:solidFill>
          <a:ln w="12700">
            <a:solidFill>
              <a:srgbClr val="D9ED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43799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6W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18488" y="4334256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결과 분석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04088" y="4791456"/>
            <a:ext cx="658368" cy="365760"/>
          </a:xfrm>
          <a:prstGeom prst="roundRect">
            <a:avLst>
              <a:gd name="adj" fmla="val 15000"/>
            </a:avLst>
          </a:prstGeom>
          <a:solidFill>
            <a:srgbClr val="10294B"/>
          </a:solidFill>
          <a:ln w="12700">
            <a:solidFill>
              <a:srgbClr val="1029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48554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7W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618488" y="4809744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선택적</a:t>
            </a:r>
            <a:r>
              <a:rPr lang="en-US" sz="1600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확장</a:t>
            </a:r>
            <a:r>
              <a:rPr lang="en-US" sz="1600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</a:t>
            </a:r>
            <a:r>
              <a:rPr lang="ko-KR" altLang="en-US" sz="1600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내부 텍스처 기능 등</a:t>
            </a:r>
            <a:r>
              <a:rPr lang="en-US" altLang="ko-KR" sz="1600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04088" y="5266944"/>
            <a:ext cx="658368" cy="365760"/>
          </a:xfrm>
          <a:prstGeom prst="roundRect">
            <a:avLst>
              <a:gd name="adj" fmla="val 15000"/>
            </a:avLst>
          </a:prstGeom>
          <a:solidFill>
            <a:srgbClr val="10294B"/>
          </a:solidFill>
          <a:ln w="12700">
            <a:solidFill>
              <a:srgbClr val="1029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" y="5330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8W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618488" y="528523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데모 구성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56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활용 범위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연구 핵심 구현과 보조 작업의 역할을 구분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0528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DIRECTX 12  /  MINIENGINE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4830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066544"/>
            <a:ext cx="5276088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066544"/>
            <a:ext cx="50292" cy="3337560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2267712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활용 예정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23544" y="2743200"/>
            <a:ext cx="477316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논문 및 자료 탐색·요약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DirectX 12 / MiniEngine 학습 보조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데모 씬 및 비핵심 렌더링 작업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발표 자료 제작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08776" y="2066544"/>
            <a:ext cx="5276088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08776" y="2066544"/>
            <a:ext cx="50292" cy="3337560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267712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직접 수행 예정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46520" y="2743200"/>
            <a:ext cx="477316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연구 관련 알고리즘 설계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핵심 코드 모듈화 및 구현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성능 측정·검증·분석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최적화 선택 및 결과 해석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9C2"/>
          </a:solidFill>
          <a:ln w="12700">
            <a:solidFill>
              <a:srgbClr val="1769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56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REFERENCES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참고문헌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발표 전 정확한 서지 정보 및 인용 범위를 확인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097280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510528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7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DIRECTX 12  /  MINIENGINE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4830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" y="2048256"/>
            <a:ext cx="1074420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176272"/>
            <a:ext cx="420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72768" y="2130552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평면 절단 기반 연구 및 공개 구현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3232" y="2788920"/>
            <a:ext cx="1074420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916936"/>
            <a:ext cx="420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72768" y="287121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Effective Method for Slicing Triangle Meshes Using a Freeform Curve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3232" y="3529584"/>
            <a:ext cx="1074420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657600"/>
            <a:ext cx="420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72768" y="361188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Mesh Boolean 연산 관련 연구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3232" y="4270248"/>
            <a:ext cx="1074420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398264"/>
            <a:ext cx="420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72768" y="435254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기반 메시 처리·재인덱싱 연구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3232" y="5010912"/>
            <a:ext cx="1074420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5138928"/>
            <a:ext cx="420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6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72768" y="5093208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3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EzySlice / OpenFracture 등 공개 구현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B4E8"/>
          </a:solidFill>
          <a:ln w="12700">
            <a:solidFill>
              <a:srgbClr val="35B4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57984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kern="0" spc="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841248" y="309067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B9D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자유곡선 기반 3D 메시 절단 시스템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41248" y="3904488"/>
            <a:ext cx="5468112" cy="0"/>
          </a:xfrm>
          <a:prstGeom prst="line">
            <a:avLst/>
          </a:prstGeom>
          <a:noFill/>
          <a:ln w="25400">
            <a:solidFill>
              <a:srgbClr val="35B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&amp; 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1037</Words>
  <Application>Microsoft Office PowerPoint</Application>
  <PresentationFormat>와이드스크린</PresentationFormat>
  <Paragraphs>273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Aptos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자유곡선 3D 메시 절단 시스템</dc:title>
  <dc:subject>자유곡선 3D 메시 절단 시스템 연구 주제 선정</dc:subject>
  <dc:creator>Research Presentation</dc:creator>
  <cp:lastModifiedBy>박은수</cp:lastModifiedBy>
  <cp:revision>51</cp:revision>
  <dcterms:created xsi:type="dcterms:W3CDTF">2026-10-16T05:00:33Z</dcterms:created>
  <dcterms:modified xsi:type="dcterms:W3CDTF">2026-10-16T06:40:02Z</dcterms:modified>
</cp:coreProperties>
</file>