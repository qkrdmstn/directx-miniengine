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2" r:id="rId5"/>
    <p:sldId id="264" r:id="rId6"/>
    <p:sldId id="271" r:id="rId7"/>
    <p:sldId id="263" r:id="rId8"/>
    <p:sldId id="266" r:id="rId9"/>
    <p:sldId id="274" r:id="rId10"/>
    <p:sldId id="267" r:id="rId11"/>
    <p:sldId id="272" r:id="rId12"/>
    <p:sldId id="273" r:id="rId13"/>
    <p:sldId id="268" r:id="rId14"/>
    <p:sldId id="275" r:id="rId15"/>
    <p:sldId id="276" r:id="rId16"/>
    <p:sldId id="270" r:id="rId17"/>
    <p:sldId id="277" r:id="rId18"/>
    <p:sldId id="269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박은수" initials="박" lastIdx="1" clrIdx="0">
    <p:extLst>
      <p:ext uri="{19B8F6BF-5375-455C-9EA6-DF929625EA0E}">
        <p15:presenceInfo xmlns:p15="http://schemas.microsoft.com/office/powerpoint/2012/main" userId="S-1-5-21-572273638-224739609-4213202282-2358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9C09"/>
    <a:srgbClr val="F85700"/>
    <a:srgbClr val="FF9804"/>
    <a:srgbClr val="FE9C08"/>
    <a:srgbClr val="F66107"/>
    <a:srgbClr val="ADE6E9"/>
    <a:srgbClr val="FC5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0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C88C7-3405-4E31-AC1C-CC9004BE0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9D357A-D78D-4F9A-A1FE-CE53065F4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E4A0BA-8618-4843-B79E-5CD962C61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89980-E49C-4CCB-8D48-17631D7F13A1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3662A-A0CC-4F51-A867-77C05A681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74713C-A6C5-43D6-9194-1E13E1B09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1C0D7-D11A-479F-B431-CB09E4265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816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8EB186-1319-4E60-BABD-961C3DD65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4E7131-D062-4F09-A457-0C982CF61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8A6039-B301-4BDF-911D-D32CFF3A6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89980-E49C-4CCB-8D48-17631D7F13A1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1CC786-B4A8-4E3F-9E75-68C501D25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3F38C7-6414-4963-878C-409D51065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1C0D7-D11A-479F-B431-CB09E4265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057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8F4CF0-0FE3-4C89-BCC5-4CA54C6D5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F9C733-53A9-42F0-B0FF-1AF80CD3E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556BED-52EB-4BA9-8A39-2811E63E2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89980-E49C-4CCB-8D48-17631D7F13A1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FC4210-D1B1-4060-86C5-8E18B6C26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279C7F-D1F4-4BB6-9091-7CC9E1AB9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1C0D7-D11A-479F-B431-CB09E4265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479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1BE20-BB89-4D5F-8C76-D53AA611D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BC3578-DA42-4560-8A62-6117ED1F53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D805CE-423C-4EA7-B1C3-13B4156C9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BFA6F2-A587-4593-AD65-D8DCBC5F6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89980-E49C-4CCB-8D48-17631D7F13A1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9DA708-DDF8-4525-9299-3582E2F4A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C71525-2BF3-454B-B348-26D389A98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1C0D7-D11A-479F-B431-CB09E4265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66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D0C196-D483-4C23-912B-81E283391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59996D-A963-45CA-A4D4-CB7CFAE3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135C94-7471-4562-9D02-130AD01E8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3E75A69-0860-4CE1-80F0-BE63FC759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17E47DA-7EEB-412B-ABF8-CDEA4B4C1A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75A93F-C0C2-432E-9B1D-960297D50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89980-E49C-4CCB-8D48-17631D7F13A1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C31CB38-F534-43B5-8DE0-1E00334A3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08A34F-EAF7-4B37-9CEE-64B26291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1C0D7-D11A-479F-B431-CB09E4265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9604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9CEC4D-3A32-4484-843D-F8512153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4BA87A-B85E-4F08-88A0-9CE101FE8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89980-E49C-4CCB-8D48-17631D7F13A1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73BA1AC-3B55-4C59-BF46-617759992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9A2108-57B8-4EAB-9B45-357E03A22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1C0D7-D11A-479F-B431-CB09E4265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31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D0BF9CB-578F-4F8F-85B2-F87823709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89980-E49C-4CCB-8D48-17631D7F13A1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8F30B8B-6746-4EC0-A397-A39AEA2F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1260FC-9346-400F-BED1-57E1ADA5A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1C0D7-D11A-479F-B431-CB09E4265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402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7746B5-A81F-49CB-AEFD-2FA08E624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F13E10-F93B-42BD-96DF-7E7FED5EF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D5AB14-CCD8-4259-8811-1C6E4D323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35A4F4-AC43-4ECF-AC99-26F0FCA67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89980-E49C-4CCB-8D48-17631D7F13A1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6613B8-6534-4973-9ACF-B28DE78C2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B8A28B-DB1D-4271-A616-3CA191D25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1C0D7-D11A-479F-B431-CB09E4265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468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39D7B-8650-46A6-AB23-EB2400BA0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7D2D64F-928E-4B93-9984-212F6CB93F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5B3AAB-E8E1-41A3-ACEB-5B4F3CE95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2E9E0C-F1B6-45DF-9903-4BFBE7D02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89980-E49C-4CCB-8D48-17631D7F13A1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8D5FF0-8CF8-4B2A-980E-E840FE3B2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B01CE6-360A-41AE-907E-A3AC45A0B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1C0D7-D11A-479F-B431-CB09E4265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831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CA7F88-0639-46FE-B27A-EA2D09620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42FA854-47B2-4AE8-9EE2-8D9DDC2C8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33DCD7-211A-4093-A335-62C431FBE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89980-E49C-4CCB-8D48-17631D7F13A1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FB8F21-C5FB-41ED-B6CD-3BACEAAD3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529E3E-8B85-4CF0-B082-685A959B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1C0D7-D11A-479F-B431-CB09E4265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767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7BEB660-1858-4207-82CA-7D7684E6EA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3FFB407-3621-445B-94D2-9FC65AF7F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C0D5B1-CA17-43F5-BFD4-ACD371661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89980-E49C-4CCB-8D48-17631D7F13A1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9B5CF2-03DA-4A8A-BFCE-3A4824F7C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9819A-5C8B-401F-8E13-27554752C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1C0D7-D11A-479F-B431-CB09E4265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21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51A22E0-050D-4B6D-B801-21EFC5D2B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D4A48C-4C0F-4711-A62D-04C88E051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7F3FFC-B1E6-4F43-A486-ED5B7C00B8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89980-E49C-4CCB-8D48-17631D7F13A1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FB18B4-24DB-438B-98D6-ACD731A20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E518DE-B5B3-43E9-BEE2-22DDD8AD94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1C0D7-D11A-479F-B431-CB09E4265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219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B1A83B4-A5CF-43FA-B72D-E5EE3F1B6593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405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405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405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405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405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405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405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405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405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405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405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pPr>
            <a:r>
              <a:rPr sz="4050" b="1">
                <a:solidFill>
                  <a:srgbClr val="181818"/>
                </a:solidFill>
                <a:latin typeface="NanumGothic"/>
                <a:ea typeface="NanumGothic"/>
                <a:cs typeface="NanumGothic"/>
              </a:rPr>
              <a:t>스켈레탈 메시 절단 시스템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82872C71-46C5-4873-926D-94A1E940CF55}"/>
              </a:ext>
            </a:extLst>
          </p:cNvPr>
          <p:cNvSpPr>
            <a:spLocks noGrp="1"/>
          </p:cNvSpPr>
          <p:nvPr/>
        </p:nvSpPr>
        <p:spPr>
          <a:xfrm>
            <a:off x="723900" y="5505450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575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1575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1575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1575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1575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1575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1575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1575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1575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1575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1575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박은수 / 애니메이션1실</a:t>
            </a:r>
          </a:p>
        </p:txBody>
      </p:sp>
    </p:spTree>
    <p:extLst>
      <p:ext uri="{BB962C8B-B14F-4D97-AF65-F5344CB8AC3E}">
        <p14:creationId xmlns:p14="http://schemas.microsoft.com/office/powerpoint/2010/main" val="1943052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" name="header-rule">
            <a:extLst>
              <a:ext uri="{FF2B5EF4-FFF2-40B4-BE49-F238E27FC236}">
                <a16:creationId xmlns:a16="http://schemas.microsoft.com/office/drawing/2014/main" id="{76DE048F-2F26-4562-A158-524A7F121EC4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95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62D4ADA-F03F-4FBD-93E0-3E6A3DE89B5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rPr>
              <a:t>주제 수정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C1566F64-2970-4A4F-9EC0-F486302215B8}"/>
              </a:ext>
            </a:extLst>
          </p:cNvPr>
          <p:cNvSpPr>
            <a:spLocks noGrp="1"/>
          </p:cNvSpPr>
          <p:nvPr/>
        </p:nvSpPr>
        <p:spPr>
          <a:xfrm>
            <a:off x="1066800" y="3600450"/>
            <a:ext cx="10972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24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24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24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24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24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24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24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24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24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24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24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pPr>
            <a:r>
              <a:rPr sz="2400" b="1">
                <a:solidFill>
                  <a:srgbClr val="181818"/>
                </a:solidFill>
                <a:latin typeface="NanumGothic"/>
                <a:ea typeface="NanumGothic"/>
                <a:cs typeface="NanumGothic"/>
              </a:rPr>
              <a:t>애니메이션이 유지되는 스켈레탈 메시 절단 시스템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4046FB95-28EA-4D47-81C9-0A735EE482B3}"/>
              </a:ext>
            </a:extLst>
          </p:cNvPr>
          <p:cNvSpPr>
            <a:spLocks noGrp="1"/>
          </p:cNvSpPr>
          <p:nvPr/>
        </p:nvSpPr>
        <p:spPr>
          <a:xfrm>
            <a:off x="1066800" y="2095500"/>
            <a:ext cx="10972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2175" b="0">
                <a:solidFill>
                  <a:srgbClr val="666666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2175" b="0">
                <a:solidFill>
                  <a:srgbClr val="666666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2175" b="0">
                <a:solidFill>
                  <a:srgbClr val="666666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2175" b="0">
                <a:solidFill>
                  <a:srgbClr val="666666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2175" b="0">
                <a:solidFill>
                  <a:srgbClr val="666666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2175" b="0">
                <a:solidFill>
                  <a:srgbClr val="666666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2175" b="0">
                <a:solidFill>
                  <a:srgbClr val="666666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2175" b="0">
                <a:solidFill>
                  <a:srgbClr val="666666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2175" b="0">
                <a:solidFill>
                  <a:srgbClr val="666666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2175" b="0">
                <a:solidFill>
                  <a:srgbClr val="666666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2175" b="0">
                <a:solidFill>
                  <a:srgbClr val="666666"/>
                </a:solidFill>
                <a:latin typeface="NanumGothic"/>
                <a:ea typeface="NanumGothic"/>
                <a:cs typeface="NanumGothic"/>
              </a:defRPr>
            </a:pPr>
            <a:r>
              <a:rPr sz="2175" b="0">
                <a:solidFill>
                  <a:srgbClr val="666666"/>
                </a:solidFill>
                <a:latin typeface="NanumGothic"/>
                <a:ea typeface="NanumGothic"/>
                <a:cs typeface="NanumGothic"/>
              </a:rPr>
              <a:t>자유곡선 기반 Static Mesh 절단 시스템</a:t>
            </a:r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7873041D-B686-4B00-A191-9A305155F608}"/>
              </a:ext>
            </a:extLst>
          </p:cNvPr>
          <p:cNvSpPr/>
          <p:nvPr/>
        </p:nvSpPr>
        <p:spPr>
          <a:xfrm>
            <a:off x="5559552" y="2862072"/>
            <a:ext cx="384048" cy="621792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7E791E52-2E49-4468-8245-7353C87EE3E5}"/>
              </a:ext>
            </a:extLst>
          </p:cNvPr>
          <p:cNvSpPr>
            <a:spLocks noGrp="1"/>
          </p:cNvSpPr>
          <p:nvPr/>
        </p:nvSpPr>
        <p:spPr>
          <a:xfrm>
            <a:off x="1066800" y="5238750"/>
            <a:ext cx="10972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725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1725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1725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1725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1725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1725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1725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1725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1725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1725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1725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이유: 곡선 절단 시스템은 활용이 제한적이다.</a:t>
            </a:r>
          </a:p>
        </p:txBody>
      </p:sp>
    </p:spTree>
    <p:extLst>
      <p:ext uri="{BB962C8B-B14F-4D97-AF65-F5344CB8AC3E}">
        <p14:creationId xmlns:p14="http://schemas.microsoft.com/office/powerpoint/2010/main" val="2696695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" name="header-rule">
            <a:extLst>
              <a:ext uri="{FF2B5EF4-FFF2-40B4-BE49-F238E27FC236}">
                <a16:creationId xmlns:a16="http://schemas.microsoft.com/office/drawing/2014/main" id="{B3AD9939-861A-4DB0-B977-A4E914AE741B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95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17EE9C6-4452-4A14-9D45-E647EE87322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rPr>
              <a:t>주제 수정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740A7640-F200-4F1C-8939-B9FA3F8711BD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10972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rPr>
              <a:t>연구 주제: 애니메이션이 유지되는 스켈레탈 메시 절단 시스템</a:t>
            </a:r>
          </a:p>
        </p:txBody>
      </p:sp>
      <p:pic>
        <p:nvPicPr>
          <p:cNvPr id="4" name="녹음 2026-10-23 100822">
            <a:hlinkClick action="ppaction://media"/>
            <a:extLst>
              <a:ext uri="{FF2B5EF4-FFF2-40B4-BE49-F238E27FC236}">
                <a16:creationId xmlns:a16="http://schemas.microsoft.com/office/drawing/2014/main" id="{608227F2-8794-405E-80CD-776B2009D2C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772400" y="2405910"/>
            <a:ext cx="3063240" cy="3326340"/>
          </a:xfrm>
          <a:prstGeom prst="rect">
            <a:avLst/>
          </a:prstGeom>
        </p:spPr>
      </p:pic>
      <p:pic>
        <p:nvPicPr>
          <p:cNvPr id="7" name="Picture 4" descr="VR 게임 킬러 타이틀 나왔다, '비트 세이버' 100만 장 판매 돌파">
            <a:extLst>
              <a:ext uri="{FF2B5EF4-FFF2-40B4-BE49-F238E27FC236}">
                <a16:creationId xmlns:a16="http://schemas.microsoft.com/office/drawing/2014/main" id="{0270122E-88B1-49AC-ACB3-F018B5646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" y="2269694"/>
            <a:ext cx="6400800" cy="3598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791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" name="header-rule">
            <a:extLst>
              <a:ext uri="{FF2B5EF4-FFF2-40B4-BE49-F238E27FC236}">
                <a16:creationId xmlns:a16="http://schemas.microsoft.com/office/drawing/2014/main" id="{C2F89AD8-ECDB-4437-B574-E77A0FF53CB4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95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2A3F07C-2D37-440A-8D89-AF4C88FA5FE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rPr>
              <a:t>주제 수정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D454D8CE-65FD-41C8-A388-911A7F2BACD2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10972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rPr>
              <a:t>첫 번째 목표: 메탈기어 라이징</a:t>
            </a:r>
          </a:p>
        </p:txBody>
      </p:sp>
      <p:pic>
        <p:nvPicPr>
          <p:cNvPr id="8" name="화면 녹화 중 2026-10-23 095246">
            <a:hlinkClick action="ppaction://media"/>
            <a:extLst>
              <a:ext uri="{FF2B5EF4-FFF2-40B4-BE49-F238E27FC236}">
                <a16:creationId xmlns:a16="http://schemas.microsoft.com/office/drawing/2014/main" id="{8FD93F02-1ABC-4653-B48A-74FB5E7983A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829937" y="1920240"/>
            <a:ext cx="2501646" cy="448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48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3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" name="header-rule">
            <a:extLst>
              <a:ext uri="{FF2B5EF4-FFF2-40B4-BE49-F238E27FC236}">
                <a16:creationId xmlns:a16="http://schemas.microsoft.com/office/drawing/2014/main" id="{E7B9EBAB-9A87-4822-811B-D4E0BCDBDDDF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95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C12B23A-D0CA-42B9-9108-9012AD3563B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rPr>
              <a:t>주제 수정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E13FB1A4-2E34-4EA6-BE2C-FB92ABEA49AE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10972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rPr>
              <a:t>연구 확장: 단면 처리</a:t>
            </a:r>
          </a:p>
        </p:txBody>
      </p:sp>
      <p:pic>
        <p:nvPicPr>
          <p:cNvPr id="8" name="화면 녹화 중 2026-10-23 095246">
            <a:hlinkClick action="ppaction://media"/>
            <a:extLst>
              <a:ext uri="{FF2B5EF4-FFF2-40B4-BE49-F238E27FC236}">
                <a16:creationId xmlns:a16="http://schemas.microsoft.com/office/drawing/2014/main" id="{8FD93F02-1ABC-4653-B48A-74FB5E7983A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20977" y="1920240"/>
            <a:ext cx="2501646" cy="448056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1DECA13-3DB1-427B-9DEF-F6A4FD8103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2242091"/>
            <a:ext cx="4206240" cy="3425378"/>
          </a:xfrm>
          <a:prstGeom prst="rect">
            <a:avLst/>
          </a:prstGeom>
        </p:spPr>
      </p:pic>
      <p:sp>
        <p:nvSpPr>
          <p:cNvPr id="4" name="더하기 기호 3">
            <a:extLst>
              <a:ext uri="{FF2B5EF4-FFF2-40B4-BE49-F238E27FC236}">
                <a16:creationId xmlns:a16="http://schemas.microsoft.com/office/drawing/2014/main" id="{E87E6B42-DDEF-4284-9D01-E3F18C839566}"/>
              </a:ext>
            </a:extLst>
          </p:cNvPr>
          <p:cNvSpPr/>
          <p:nvPr/>
        </p:nvSpPr>
        <p:spPr>
          <a:xfrm>
            <a:off x="5486400" y="3657600"/>
            <a:ext cx="502920" cy="502920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0C40ED8A-39AD-432C-B9A5-6419D65CD4A7}"/>
              </a:ext>
            </a:extLst>
          </p:cNvPr>
          <p:cNvSpPr>
            <a:spLocks noGrp="1"/>
          </p:cNvSpPr>
          <p:nvPr/>
        </p:nvSpPr>
        <p:spPr>
          <a:xfrm>
            <a:off x="6762750" y="6076950"/>
            <a:ext cx="4191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500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1500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1500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1500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1500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1500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1500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1500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1500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1500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1500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333333"/>
                </a:solidFill>
                <a:latin typeface="NanumGothic"/>
                <a:ea typeface="NanumGothic"/>
                <a:cs typeface="NanumGothic"/>
              </a:rPr>
              <a:t>데드 아일랜드 2</a:t>
            </a:r>
          </a:p>
        </p:txBody>
      </p:sp>
    </p:spTree>
    <p:extLst>
      <p:ext uri="{BB962C8B-B14F-4D97-AF65-F5344CB8AC3E}">
        <p14:creationId xmlns:p14="http://schemas.microsoft.com/office/powerpoint/2010/main" val="357536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3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AF5CFF3-E1A4-449C-A7D0-B49D356ADDC6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047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42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42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42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42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42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42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42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42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42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42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42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pPr>
            <a:r>
              <a:rPr sz="4200" b="1">
                <a:solidFill>
                  <a:srgbClr val="181818"/>
                </a:solidFill>
                <a:latin typeface="NanumGothic"/>
                <a:ea typeface="NanumGothic"/>
                <a:cs typeface="NanumGothic"/>
              </a:rPr>
              <a:t>진행 상황</a:t>
            </a:r>
          </a:p>
        </p:txBody>
      </p:sp>
    </p:spTree>
    <p:extLst>
      <p:ext uri="{BB962C8B-B14F-4D97-AF65-F5344CB8AC3E}">
        <p14:creationId xmlns:p14="http://schemas.microsoft.com/office/powerpoint/2010/main" val="119039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" name="header-rule">
            <a:extLst>
              <a:ext uri="{FF2B5EF4-FFF2-40B4-BE49-F238E27FC236}">
                <a16:creationId xmlns:a16="http://schemas.microsoft.com/office/drawing/2014/main" id="{EB0326D6-DC44-47C3-91FF-3B57B4D69640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95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CE4A590-8178-4845-B686-E1503B3D71E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rPr>
              <a:t>미니엔진 구조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498022F-9D5C-42E6-9307-78798D154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233" y="1353312"/>
            <a:ext cx="9064487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161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" name="header-rule">
            <a:extLst>
              <a:ext uri="{FF2B5EF4-FFF2-40B4-BE49-F238E27FC236}">
                <a16:creationId xmlns:a16="http://schemas.microsoft.com/office/drawing/2014/main" id="{40C8E86C-2AFF-41D8-99EF-B59C0F9F8AD6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95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D78210B-B5D2-420D-B747-FA210E4B32E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rPr>
              <a:t>Procedural Mesh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21C198C9-B782-426A-A737-57A5EE19CDB1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10972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rPr>
              <a:t>언리얼 엔진에도 제공하는 런타임에 정점을 수정할 수 있는 메시 데이터 타입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80E5BA7-E92B-4ADA-8DE8-FC100D276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718" y="1874520"/>
            <a:ext cx="9721516" cy="461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548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" name="header-rule">
            <a:extLst>
              <a:ext uri="{FF2B5EF4-FFF2-40B4-BE49-F238E27FC236}">
                <a16:creationId xmlns:a16="http://schemas.microsoft.com/office/drawing/2014/main" id="{45E9F642-775C-41C4-B1AD-71D427F0834A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95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5F914B3-3770-4883-9DD6-A4704AE29C3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rPr>
              <a:t>Procedural Mesh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194500C-3793-4C1D-95E6-23107B5128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008"/>
          <a:stretch/>
        </p:blipFill>
        <p:spPr>
          <a:xfrm>
            <a:off x="594360" y="2538559"/>
            <a:ext cx="11000232" cy="296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57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" name="header-rule">
            <a:extLst>
              <a:ext uri="{FF2B5EF4-FFF2-40B4-BE49-F238E27FC236}">
                <a16:creationId xmlns:a16="http://schemas.microsoft.com/office/drawing/2014/main" id="{D9011E85-B243-40EC-A6C4-EEECE72A8837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95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B3AFEAE-1213-4500-AB6D-6098930DE24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rPr>
              <a:t>절단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9A6C40D-F886-4F19-9F62-8039598718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80" t="9494" r="77429" b="47876"/>
          <a:stretch/>
        </p:blipFill>
        <p:spPr>
          <a:xfrm>
            <a:off x="914400" y="2131240"/>
            <a:ext cx="3474720" cy="4241439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CF706410-B62C-4C34-9CC1-42ADF826A58E}"/>
              </a:ext>
            </a:extLst>
          </p:cNvPr>
          <p:cNvGrpSpPr/>
          <p:nvPr/>
        </p:nvGrpSpPr>
        <p:grpSpPr>
          <a:xfrm>
            <a:off x="5852160" y="2562946"/>
            <a:ext cx="4480560" cy="3359740"/>
            <a:chOff x="1609725" y="2050738"/>
            <a:chExt cx="3190875" cy="2392672"/>
          </a:xfrm>
        </p:grpSpPr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297844A2-B0F1-4B38-BD9F-F5C3877AB726}"/>
                </a:ext>
              </a:extLst>
            </p:cNvPr>
            <p:cNvSpPr/>
            <p:nvPr/>
          </p:nvSpPr>
          <p:spPr>
            <a:xfrm>
              <a:off x="2552700" y="2152650"/>
              <a:ext cx="1304925" cy="2162174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anumGothic"/>
                <a:ea typeface="NanumGothic"/>
                <a:cs typeface="NanumGothic"/>
              </a:endParaRP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377E5861-6BBB-4974-AEE0-A6832134CF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9725" y="2762250"/>
              <a:ext cx="3190875" cy="129540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353B5832-D743-4F84-B9E8-EE8DB3F1047A}"/>
                </a:ext>
              </a:extLst>
            </p:cNvPr>
            <p:cNvSpPr/>
            <p:nvPr/>
          </p:nvSpPr>
          <p:spPr>
            <a:xfrm>
              <a:off x="3109914" y="2050738"/>
              <a:ext cx="190496" cy="190496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anumGothic"/>
                <a:ea typeface="NanumGothic"/>
                <a:cs typeface="NanumGothic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DD3C6625-4BC4-4756-BB06-E80F51B01B2D}"/>
                </a:ext>
              </a:extLst>
            </p:cNvPr>
            <p:cNvSpPr/>
            <p:nvPr/>
          </p:nvSpPr>
          <p:spPr>
            <a:xfrm>
              <a:off x="3762377" y="4252914"/>
              <a:ext cx="190496" cy="190496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anumGothic"/>
                <a:ea typeface="NanumGothic"/>
                <a:cs typeface="NanumGothic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496E2746-E749-47CF-8FB4-991F0EB51037}"/>
                </a:ext>
              </a:extLst>
            </p:cNvPr>
            <p:cNvSpPr/>
            <p:nvPr/>
          </p:nvSpPr>
          <p:spPr>
            <a:xfrm>
              <a:off x="2457452" y="4219576"/>
              <a:ext cx="190496" cy="190496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anumGothic"/>
                <a:ea typeface="NanumGothic"/>
                <a:cs typeface="NanumGothic"/>
              </a:endParaRP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28518B4B-55AD-4469-B40F-677A328D47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60220" y="3409950"/>
              <a:ext cx="240983" cy="50943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21F7124-B5FB-4534-8629-1DB8E87A9ABC}"/>
                </a:ext>
              </a:extLst>
            </p:cNvPr>
            <p:cNvSpPr txBox="1"/>
            <p:nvPr/>
          </p:nvSpPr>
          <p:spPr>
            <a:xfrm>
              <a:off x="1850232" y="3447654"/>
              <a:ext cx="39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NanumGothic"/>
                  <a:ea typeface="NanumGothic"/>
                  <a:cs typeface="NanumGothic"/>
                </a:rPr>
                <a:t>n</a:t>
              </a:r>
              <a:endParaRPr lang="ko-KR" altLang="en-US" dirty="0">
                <a:latin typeface="NanumGothic"/>
                <a:ea typeface="NanumGothic"/>
                <a:cs typeface="NanumGothic"/>
              </a:endParaRPr>
            </a:p>
          </p:txBody>
        </p:sp>
      </p:grpSp>
      <p:sp>
        <p:nvSpPr>
          <p:cNvPr id="19" name="Text 19">
            <a:extLst>
              <a:ext uri="{FF2B5EF4-FFF2-40B4-BE49-F238E27FC236}">
                <a16:creationId xmlns:a16="http://schemas.microsoft.com/office/drawing/2014/main" id="{4A097D6B-0311-4AD7-A0B8-D9A941A1B1D8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10972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rPr>
              <a:t>1. 각 정점이 평면의 어느 부분에 위치하는지 계산</a:t>
            </a:r>
          </a:p>
        </p:txBody>
      </p:sp>
    </p:spTree>
    <p:extLst>
      <p:ext uri="{BB962C8B-B14F-4D97-AF65-F5344CB8AC3E}">
        <p14:creationId xmlns:p14="http://schemas.microsoft.com/office/powerpoint/2010/main" val="4162574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" name="header-rule">
            <a:extLst>
              <a:ext uri="{FF2B5EF4-FFF2-40B4-BE49-F238E27FC236}">
                <a16:creationId xmlns:a16="http://schemas.microsoft.com/office/drawing/2014/main" id="{88ED7F73-2B4B-47D3-BA92-1DF31DC2EA67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95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F0B695B-5AF0-4AA4-B0F2-D32F84DF735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rPr>
              <a:t>절단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9A6C40D-F886-4F19-9F62-8039598718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33" t="14974" r="16862" b="49527"/>
          <a:stretch/>
        </p:blipFill>
        <p:spPr>
          <a:xfrm>
            <a:off x="1313972" y="2637005"/>
            <a:ext cx="9561007" cy="3523240"/>
          </a:xfrm>
          <a:prstGeom prst="rect">
            <a:avLst/>
          </a:prstGeom>
        </p:spPr>
      </p:pic>
      <p:sp>
        <p:nvSpPr>
          <p:cNvPr id="6" name="Text 6">
            <a:extLst>
              <a:ext uri="{FF2B5EF4-FFF2-40B4-BE49-F238E27FC236}">
                <a16:creationId xmlns:a16="http://schemas.microsoft.com/office/drawing/2014/main" id="{20B9193E-8729-4256-A951-15E934CCB4D4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10972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rPr>
              <a:t>2. 계산 결과를 통해 교차 검사를 수행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F99CB98-FF3C-4354-A0B9-8D4228EF2185}"/>
              </a:ext>
            </a:extLst>
          </p:cNvPr>
          <p:cNvGrpSpPr/>
          <p:nvPr/>
        </p:nvGrpSpPr>
        <p:grpSpPr>
          <a:xfrm>
            <a:off x="3565954" y="1993392"/>
            <a:ext cx="5099540" cy="4407408"/>
            <a:chOff x="3232484" y="1489684"/>
            <a:chExt cx="5775157" cy="4991327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F6A5826-3CCD-4FBF-B973-EA1179D30A27}"/>
                </a:ext>
              </a:extLst>
            </p:cNvPr>
            <p:cNvSpPr/>
            <p:nvPr/>
          </p:nvSpPr>
          <p:spPr>
            <a:xfrm>
              <a:off x="3232484" y="1965158"/>
              <a:ext cx="5558590" cy="451585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anumGothic"/>
                <a:ea typeface="NanumGothic"/>
                <a:cs typeface="NanumGothic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84107F1-7DB5-4440-AE3C-2ACDD31877DE}"/>
                </a:ext>
              </a:extLst>
            </p:cNvPr>
            <p:cNvSpPr txBox="1"/>
            <p:nvPr/>
          </p:nvSpPr>
          <p:spPr>
            <a:xfrm>
              <a:off x="6428070" y="1398244"/>
              <a:ext cx="3128211" cy="5531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NanumGothic"/>
                  <a:ea typeface="NanumGothic"/>
                  <a:cs typeface="NanumGothic"/>
                </a:rPr>
                <a:t>교차하는 경우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2603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" name="header-rule">
            <a:extLst>
              <a:ext uri="{FF2B5EF4-FFF2-40B4-BE49-F238E27FC236}">
                <a16:creationId xmlns:a16="http://schemas.microsoft.com/office/drawing/2014/main" id="{301EEF7A-91CE-4018-ADBA-632DA1E9A88E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95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4AAD5D1-8261-4002-B9F3-8696297A27C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rPr>
              <a:t>절단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9A6C40D-F886-4F19-9F62-8039598718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53" t="52089" r="74248"/>
          <a:stretch/>
        </p:blipFill>
        <p:spPr>
          <a:xfrm>
            <a:off x="1828800" y="2275254"/>
            <a:ext cx="3108960" cy="3679091"/>
          </a:xfrm>
          <a:prstGeom prst="rect">
            <a:avLst/>
          </a:prstGeom>
        </p:spPr>
      </p:pic>
      <p:sp>
        <p:nvSpPr>
          <p:cNvPr id="6" name="Text 6">
            <a:extLst>
              <a:ext uri="{FF2B5EF4-FFF2-40B4-BE49-F238E27FC236}">
                <a16:creationId xmlns:a16="http://schemas.microsoft.com/office/drawing/2014/main" id="{51DF041A-868F-4EB7-A14D-B1D16E5E2714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10972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rPr>
              <a:t>3. 교점 정보를 저장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D712818-DC92-457E-98F3-03256331EC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749" t="52089" r="50132"/>
          <a:stretch/>
        </p:blipFill>
        <p:spPr>
          <a:xfrm>
            <a:off x="6858000" y="2223444"/>
            <a:ext cx="3108960" cy="378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26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" name="header-rule">
            <a:extLst>
              <a:ext uri="{FF2B5EF4-FFF2-40B4-BE49-F238E27FC236}">
                <a16:creationId xmlns:a16="http://schemas.microsoft.com/office/drawing/2014/main" id="{86EED938-ADFD-4CF2-8D64-7C4664EFC964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95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476C8B9-81A2-482A-A7F9-E0F4657F226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rPr>
              <a:t>단면 생성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CF265EC-69AB-4AB5-804E-CC5D5DA2B4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50" r="40184" b="16095"/>
          <a:stretch/>
        </p:blipFill>
        <p:spPr>
          <a:xfrm>
            <a:off x="3383280" y="2122463"/>
            <a:ext cx="8229600" cy="4167554"/>
          </a:xfrm>
          <a:prstGeom prst="rect">
            <a:avLst/>
          </a:prstGeom>
        </p:spPr>
      </p:pic>
      <p:sp>
        <p:nvSpPr>
          <p:cNvPr id="10" name="Text 10">
            <a:extLst>
              <a:ext uri="{FF2B5EF4-FFF2-40B4-BE49-F238E27FC236}">
                <a16:creationId xmlns:a16="http://schemas.microsoft.com/office/drawing/2014/main" id="{F3577A5C-2300-4CD3-B693-BCE78FB46440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10972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rPr>
              <a:t>4. 교점 정보를 저장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66D2E0E-A14A-46EB-AA12-204E33896E85}"/>
              </a:ext>
            </a:extLst>
          </p:cNvPr>
          <p:cNvGrpSpPr/>
          <p:nvPr/>
        </p:nvGrpSpPr>
        <p:grpSpPr>
          <a:xfrm>
            <a:off x="594360" y="2918256"/>
            <a:ext cx="2468880" cy="1844448"/>
            <a:chOff x="120316" y="2432280"/>
            <a:chExt cx="2911642" cy="217522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59281F-98E7-4BF5-8845-BBC0FB0522D0}"/>
                </a:ext>
              </a:extLst>
            </p:cNvPr>
            <p:cNvSpPr txBox="1"/>
            <p:nvPr/>
          </p:nvSpPr>
          <p:spPr>
            <a:xfrm>
              <a:off x="192506" y="4017375"/>
              <a:ext cx="23662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NanumGothic"/>
                  <a:ea typeface="NanumGothic"/>
                  <a:cs typeface="NanumGothic"/>
                </a:rPr>
                <a:t>하나의 삼각형에서 </a:t>
              </a:r>
              <a:endParaRPr lang="en-US" altLang="ko-KR" sz="1200" dirty="0">
                <a:latin typeface="NanumGothic"/>
                <a:ea typeface="NanumGothic"/>
                <a:cs typeface="NanumGothic"/>
              </a:endParaRPr>
            </a:p>
            <a:p>
              <a:r>
                <a:rPr lang="en-US" altLang="ko-KR" sz="1200" dirty="0">
                  <a:latin typeface="NanumGothic"/>
                  <a:ea typeface="NanumGothic"/>
                  <a:cs typeface="NanumGothic"/>
                </a:rPr>
                <a:t>2</a:t>
              </a:r>
              <a:r>
                <a:rPr lang="ko-KR" altLang="en-US" sz="1200" dirty="0">
                  <a:latin typeface="NanumGothic"/>
                  <a:ea typeface="NanumGothic"/>
                  <a:cs typeface="NanumGothic"/>
                </a:rPr>
                <a:t>개의 교차점이 생성</a:t>
              </a: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9AFF20B3-A8ED-466C-9005-C1AFAB3B5092}"/>
                </a:ext>
              </a:extLst>
            </p:cNvPr>
            <p:cNvSpPr/>
            <p:nvPr/>
          </p:nvSpPr>
          <p:spPr>
            <a:xfrm>
              <a:off x="120316" y="2432280"/>
              <a:ext cx="2911642" cy="2175226"/>
            </a:xfrm>
            <a:prstGeom prst="roundRect">
              <a:avLst/>
            </a:prstGeom>
            <a:noFill/>
            <a:ln w="285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anumGothic"/>
                <a:ea typeface="NanumGothic"/>
                <a:cs typeface="NanumGothic"/>
              </a:endParaRPr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70F1D0E-5489-4457-9CFE-451A225E75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10" r="6611"/>
            <a:stretch/>
          </p:blipFill>
          <p:spPr>
            <a:xfrm>
              <a:off x="192506" y="2874362"/>
              <a:ext cx="2546684" cy="1162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59312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" name="header-rule">
            <a:extLst>
              <a:ext uri="{FF2B5EF4-FFF2-40B4-BE49-F238E27FC236}">
                <a16:creationId xmlns:a16="http://schemas.microsoft.com/office/drawing/2014/main" id="{009A282D-421A-4CE9-A266-9A64B98AACCD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95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08BAD90-DE1B-4AEA-A0D5-FC8422C77AA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rPr>
              <a:t>단면 생성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CF265EC-69AB-4AB5-804E-CC5D5DA2B4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16" t="15923" r="20121" b="14542"/>
          <a:stretch/>
        </p:blipFill>
        <p:spPr>
          <a:xfrm>
            <a:off x="4220439" y="2047052"/>
            <a:ext cx="2755171" cy="424402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2E6470F-E92C-4A88-BBBC-32D142DFE5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37" t="15923" r="-1" b="14542"/>
          <a:stretch/>
        </p:blipFill>
        <p:spPr>
          <a:xfrm>
            <a:off x="7359384" y="2047052"/>
            <a:ext cx="2755171" cy="4244020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125328E6-E9CF-4CFD-8AB6-6B68FB37CCFE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10972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333333"/>
                </a:solidFill>
                <a:latin typeface="NanumGothic"/>
                <a:ea typeface="NanumGothic"/>
                <a:cs typeface="NanumGothic"/>
              </a:rPr>
              <a:t>5. 루프에서 연속된 정점 3개를 골라서 삼각형을 구성한다.</a:t>
            </a:r>
          </a:p>
        </p:txBody>
      </p:sp>
      <p:sp>
        <p:nvSpPr>
          <p:cNvPr id="49" name="AutoShape 4" descr="생성된 이미지 1">
            <a:extLst>
              <a:ext uri="{FF2B5EF4-FFF2-40B4-BE49-F238E27FC236}">
                <a16:creationId xmlns:a16="http://schemas.microsoft.com/office/drawing/2014/main" id="{71661CCF-36F7-44F4-A931-B68BE47154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60653" y="3338804"/>
            <a:ext cx="301719" cy="301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A3DE569-5423-4114-9D19-10146D17F92E}"/>
              </a:ext>
            </a:extLst>
          </p:cNvPr>
          <p:cNvGrpSpPr/>
          <p:nvPr/>
        </p:nvGrpSpPr>
        <p:grpSpPr>
          <a:xfrm>
            <a:off x="2074398" y="2039112"/>
            <a:ext cx="1923593" cy="2016607"/>
            <a:chOff x="6788481" y="1893264"/>
            <a:chExt cx="2475835" cy="2595553"/>
          </a:xfrm>
        </p:grpSpPr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D1113223-F4C7-4C6D-97F3-991E9339F019}"/>
                </a:ext>
              </a:extLst>
            </p:cNvPr>
            <p:cNvGrpSpPr/>
            <p:nvPr/>
          </p:nvGrpSpPr>
          <p:grpSpPr>
            <a:xfrm>
              <a:off x="7257769" y="2188605"/>
              <a:ext cx="1537261" cy="1580388"/>
              <a:chOff x="7835339" y="2130552"/>
              <a:chExt cx="2857953" cy="3016356"/>
            </a:xfrm>
          </p:grpSpPr>
          <p:sp>
            <p:nvSpPr>
              <p:cNvPr id="73" name="직사각형 2">
                <a:extLst>
                  <a:ext uri="{FF2B5EF4-FFF2-40B4-BE49-F238E27FC236}">
                    <a16:creationId xmlns:a16="http://schemas.microsoft.com/office/drawing/2014/main" id="{64F1D4EA-C7A7-4D13-BF8A-A9FD8B9A931C}"/>
                  </a:ext>
                </a:extLst>
              </p:cNvPr>
              <p:cNvSpPr/>
              <p:nvPr/>
            </p:nvSpPr>
            <p:spPr>
              <a:xfrm>
                <a:off x="7958704" y="2247901"/>
                <a:ext cx="2611224" cy="2775644"/>
              </a:xfrm>
              <a:custGeom>
                <a:avLst/>
                <a:gdLst>
                  <a:gd name="connsiteX0" fmla="*/ 0 w 2611224"/>
                  <a:gd name="connsiteY0" fmla="*/ 0 h 2775644"/>
                  <a:gd name="connsiteX1" fmla="*/ 2611224 w 2611224"/>
                  <a:gd name="connsiteY1" fmla="*/ 0 h 2775644"/>
                  <a:gd name="connsiteX2" fmla="*/ 2611224 w 2611224"/>
                  <a:gd name="connsiteY2" fmla="*/ 2775644 h 2775644"/>
                  <a:gd name="connsiteX3" fmla="*/ 0 w 2611224"/>
                  <a:gd name="connsiteY3" fmla="*/ 2775644 h 2775644"/>
                  <a:gd name="connsiteX4" fmla="*/ 0 w 2611224"/>
                  <a:gd name="connsiteY4" fmla="*/ 0 h 2775644"/>
                  <a:gd name="connsiteX0" fmla="*/ 0 w 2611224"/>
                  <a:gd name="connsiteY0" fmla="*/ 1 h 2775645"/>
                  <a:gd name="connsiteX1" fmla="*/ 1162436 w 2611224"/>
                  <a:gd name="connsiteY1" fmla="*/ 0 h 2775645"/>
                  <a:gd name="connsiteX2" fmla="*/ 2611224 w 2611224"/>
                  <a:gd name="connsiteY2" fmla="*/ 1 h 2775645"/>
                  <a:gd name="connsiteX3" fmla="*/ 2611224 w 2611224"/>
                  <a:gd name="connsiteY3" fmla="*/ 2775645 h 2775645"/>
                  <a:gd name="connsiteX4" fmla="*/ 0 w 2611224"/>
                  <a:gd name="connsiteY4" fmla="*/ 2775645 h 2775645"/>
                  <a:gd name="connsiteX5" fmla="*/ 0 w 2611224"/>
                  <a:gd name="connsiteY5" fmla="*/ 1 h 2775645"/>
                  <a:gd name="connsiteX0" fmla="*/ 0 w 2611224"/>
                  <a:gd name="connsiteY0" fmla="*/ 0 h 2775644"/>
                  <a:gd name="connsiteX1" fmla="*/ 1299596 w 2611224"/>
                  <a:gd name="connsiteY1" fmla="*/ 1432559 h 2775644"/>
                  <a:gd name="connsiteX2" fmla="*/ 2611224 w 2611224"/>
                  <a:gd name="connsiteY2" fmla="*/ 0 h 2775644"/>
                  <a:gd name="connsiteX3" fmla="*/ 2611224 w 2611224"/>
                  <a:gd name="connsiteY3" fmla="*/ 2775644 h 2775644"/>
                  <a:gd name="connsiteX4" fmla="*/ 0 w 2611224"/>
                  <a:gd name="connsiteY4" fmla="*/ 2775644 h 2775644"/>
                  <a:gd name="connsiteX5" fmla="*/ 0 w 2611224"/>
                  <a:gd name="connsiteY5" fmla="*/ 0 h 2775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11224" h="2775644">
                    <a:moveTo>
                      <a:pt x="0" y="0"/>
                    </a:moveTo>
                    <a:lnTo>
                      <a:pt x="1299596" y="1432559"/>
                    </a:lnTo>
                    <a:lnTo>
                      <a:pt x="2611224" y="0"/>
                    </a:lnTo>
                    <a:lnTo>
                      <a:pt x="2611224" y="2775644"/>
                    </a:lnTo>
                    <a:lnTo>
                      <a:pt x="0" y="27756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DE6E9"/>
              </a:solidFill>
              <a:ln w="28575">
                <a:solidFill>
                  <a:srgbClr val="F6610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NanumGothic"/>
                  <a:ea typeface="NanumGothic"/>
                  <a:cs typeface="NanumGothic"/>
                </a:endParaRPr>
              </a:p>
            </p:txBody>
          </p:sp>
          <p:sp>
            <p:nvSpPr>
              <p:cNvPr id="74" name="타원 73">
                <a:extLst>
                  <a:ext uri="{FF2B5EF4-FFF2-40B4-BE49-F238E27FC236}">
                    <a16:creationId xmlns:a16="http://schemas.microsoft.com/office/drawing/2014/main" id="{5412FBA4-530C-44D0-BB8E-159158B32E63}"/>
                  </a:ext>
                </a:extLst>
              </p:cNvPr>
              <p:cNvSpPr/>
              <p:nvPr/>
            </p:nvSpPr>
            <p:spPr>
              <a:xfrm>
                <a:off x="7835339" y="2130552"/>
                <a:ext cx="246729" cy="246729"/>
              </a:xfrm>
              <a:prstGeom prst="ellipse">
                <a:avLst/>
              </a:prstGeom>
              <a:solidFill>
                <a:schemeClr val="accent6"/>
              </a:solidFill>
              <a:ln w="28575">
                <a:solidFill>
                  <a:srgbClr val="F857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NanumGothic"/>
                  <a:ea typeface="NanumGothic"/>
                  <a:cs typeface="NanumGothic"/>
                </a:endParaRPr>
              </a:p>
            </p:txBody>
          </p:sp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8C1E4F57-C8B1-493A-9984-90F414C3F245}"/>
                  </a:ext>
                </a:extLst>
              </p:cNvPr>
              <p:cNvSpPr/>
              <p:nvPr/>
            </p:nvSpPr>
            <p:spPr>
              <a:xfrm>
                <a:off x="10446563" y="2130552"/>
                <a:ext cx="246729" cy="246729"/>
              </a:xfrm>
              <a:prstGeom prst="ellipse">
                <a:avLst/>
              </a:prstGeom>
              <a:solidFill>
                <a:schemeClr val="accent6"/>
              </a:solidFill>
              <a:ln w="28575">
                <a:solidFill>
                  <a:srgbClr val="F857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NanumGothic"/>
                  <a:ea typeface="NanumGothic"/>
                  <a:cs typeface="NanumGothic"/>
                </a:endParaRPr>
              </a:p>
            </p:txBody>
          </p:sp>
          <p:sp>
            <p:nvSpPr>
              <p:cNvPr id="76" name="타원 75">
                <a:extLst>
                  <a:ext uri="{FF2B5EF4-FFF2-40B4-BE49-F238E27FC236}">
                    <a16:creationId xmlns:a16="http://schemas.microsoft.com/office/drawing/2014/main" id="{AF36B671-2A4E-417D-9A6D-9B91BA054409}"/>
                  </a:ext>
                </a:extLst>
              </p:cNvPr>
              <p:cNvSpPr/>
              <p:nvPr/>
            </p:nvSpPr>
            <p:spPr>
              <a:xfrm>
                <a:off x="10446563" y="4900179"/>
                <a:ext cx="246729" cy="246729"/>
              </a:xfrm>
              <a:prstGeom prst="ellipse">
                <a:avLst/>
              </a:prstGeom>
              <a:solidFill>
                <a:srgbClr val="FD9C09"/>
              </a:solidFill>
              <a:ln w="28575">
                <a:solidFill>
                  <a:srgbClr val="F857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NanumGothic"/>
                  <a:ea typeface="NanumGothic"/>
                  <a:cs typeface="NanumGothic"/>
                </a:endParaRPr>
              </a:p>
            </p:txBody>
          </p:sp>
          <p:sp>
            <p:nvSpPr>
              <p:cNvPr id="77" name="타원 76">
                <a:extLst>
                  <a:ext uri="{FF2B5EF4-FFF2-40B4-BE49-F238E27FC236}">
                    <a16:creationId xmlns:a16="http://schemas.microsoft.com/office/drawing/2014/main" id="{19F4A18E-A8F7-4453-948B-8ACD68CEB363}"/>
                  </a:ext>
                </a:extLst>
              </p:cNvPr>
              <p:cNvSpPr/>
              <p:nvPr/>
            </p:nvSpPr>
            <p:spPr>
              <a:xfrm>
                <a:off x="7835339" y="4900179"/>
                <a:ext cx="246729" cy="246729"/>
              </a:xfrm>
              <a:prstGeom prst="ellipse">
                <a:avLst/>
              </a:prstGeom>
              <a:solidFill>
                <a:srgbClr val="FD9C09"/>
              </a:solidFill>
              <a:ln w="28575">
                <a:solidFill>
                  <a:srgbClr val="F857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NanumGothic"/>
                  <a:ea typeface="NanumGothic"/>
                  <a:cs typeface="NanumGothic"/>
                </a:endParaRPr>
              </a:p>
            </p:txBody>
          </p:sp>
          <p:sp>
            <p:nvSpPr>
              <p:cNvPr id="78" name="타원 77">
                <a:extLst>
                  <a:ext uri="{FF2B5EF4-FFF2-40B4-BE49-F238E27FC236}">
                    <a16:creationId xmlns:a16="http://schemas.microsoft.com/office/drawing/2014/main" id="{B2E9256B-FA14-4A9F-8A0D-A28BC24C23B6}"/>
                  </a:ext>
                </a:extLst>
              </p:cNvPr>
              <p:cNvSpPr/>
              <p:nvPr/>
            </p:nvSpPr>
            <p:spPr>
              <a:xfrm>
                <a:off x="9140951" y="3512358"/>
                <a:ext cx="246729" cy="246729"/>
              </a:xfrm>
              <a:prstGeom prst="ellipse">
                <a:avLst/>
              </a:prstGeom>
              <a:solidFill>
                <a:schemeClr val="accent6"/>
              </a:solidFill>
              <a:ln w="28575">
                <a:solidFill>
                  <a:srgbClr val="F857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NanumGothic"/>
                  <a:ea typeface="NanumGothic"/>
                  <a:cs typeface="NanumGothic"/>
                </a:endParaRPr>
              </a:p>
            </p:txBody>
          </p:sp>
          <p:cxnSp>
            <p:nvCxnSpPr>
              <p:cNvPr id="79" name="직선 연결선 78">
                <a:extLst>
                  <a:ext uri="{FF2B5EF4-FFF2-40B4-BE49-F238E27FC236}">
                    <a16:creationId xmlns:a16="http://schemas.microsoft.com/office/drawing/2014/main" id="{7B29B86B-6293-4867-9C4E-40FAE1204A37}"/>
                  </a:ext>
                </a:extLst>
              </p:cNvPr>
              <p:cNvCxnSpPr>
                <a:cxnSpLocks/>
                <a:stCxn id="74" idx="6"/>
                <a:endCxn id="75" idx="2"/>
              </p:cNvCxnSpPr>
              <p:nvPr/>
            </p:nvCxnSpPr>
            <p:spPr>
              <a:xfrm>
                <a:off x="8082068" y="2253917"/>
                <a:ext cx="2364495" cy="0"/>
              </a:xfrm>
              <a:prstGeom prst="line">
                <a:avLst/>
              </a:prstGeom>
              <a:ln w="28575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C07E260-EC1B-4E9E-8BA4-7590D9E5EB64}"/>
                </a:ext>
              </a:extLst>
            </p:cNvPr>
            <p:cNvSpPr txBox="1"/>
            <p:nvPr/>
          </p:nvSpPr>
          <p:spPr>
            <a:xfrm>
              <a:off x="7324125" y="3834630"/>
              <a:ext cx="1529991" cy="373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latin typeface="NanumGothic"/>
                  <a:ea typeface="NanumGothic"/>
                  <a:cs typeface="NanumGothic"/>
                </a:rPr>
                <a:t>오목한 정점</a:t>
              </a:r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656E56DB-C3DC-4D14-B202-3B366AA049DC}"/>
                </a:ext>
              </a:extLst>
            </p:cNvPr>
            <p:cNvSpPr/>
            <p:nvPr/>
          </p:nvSpPr>
          <p:spPr>
            <a:xfrm>
              <a:off x="6788481" y="1893264"/>
              <a:ext cx="2475835" cy="2595553"/>
            </a:xfrm>
            <a:prstGeom prst="roundRect">
              <a:avLst/>
            </a:prstGeom>
            <a:noFill/>
            <a:ln w="285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anumGothic"/>
                <a:ea typeface="NanumGothic"/>
                <a:cs typeface="Nanum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5099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" name="header-rule">
            <a:extLst>
              <a:ext uri="{FF2B5EF4-FFF2-40B4-BE49-F238E27FC236}">
                <a16:creationId xmlns:a16="http://schemas.microsoft.com/office/drawing/2014/main" id="{C8D84B96-0F64-4E53-9766-9F782A74B31B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95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EFC5B79-3AB9-400E-AB98-91934D690E4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rPr>
              <a:t>단면 생성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CF265EC-69AB-4AB5-804E-CC5D5DA2B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1578864"/>
            <a:ext cx="11000232" cy="488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884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" name="header-rule">
            <a:extLst>
              <a:ext uri="{FF2B5EF4-FFF2-40B4-BE49-F238E27FC236}">
                <a16:creationId xmlns:a16="http://schemas.microsoft.com/office/drawing/2014/main" id="{F4192386-0104-4D64-9011-37969B62E8AD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95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51C1D91-D502-4F0A-8F6A-0B23AF0E022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BC4A464-0993-41C2-B4FD-E2D06A81E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678" y="1353312"/>
            <a:ext cx="10205595" cy="523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442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" name="header-rule">
            <a:extLst>
              <a:ext uri="{FF2B5EF4-FFF2-40B4-BE49-F238E27FC236}">
                <a16:creationId xmlns:a16="http://schemas.microsoft.com/office/drawing/2014/main" id="{31CDFE53-3DD8-4633-A5AF-FC53487DF361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95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B1537F7-2B93-45FF-86C8-C52527C0DD6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12DAFD4-0E72-4277-9CE0-ED33E2CDD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646" y="1371600"/>
            <a:ext cx="5072227" cy="222051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9BD22B9-BD2B-42B0-BDCE-54523846D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430" y="3850556"/>
            <a:ext cx="3024576" cy="2612898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B2D2C9D-A91A-4A6C-9AE6-7F7DFF769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597" y="3776050"/>
            <a:ext cx="3644925" cy="276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957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" name="header-rule">
            <a:extLst>
              <a:ext uri="{FF2B5EF4-FFF2-40B4-BE49-F238E27FC236}">
                <a16:creationId xmlns:a16="http://schemas.microsoft.com/office/drawing/2014/main" id="{35D297CD-32AB-4AFF-A44A-297420EB593C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95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CF5F17F-2A99-49C5-9546-6FC062131B8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1818"/>
                </a:solidFill>
                <a:latin typeface="NanumGothic"/>
                <a:ea typeface="NanumGothic"/>
                <a:cs typeface="NanumGothic"/>
              </a:rPr>
              <a:t>다음 할 일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C032E4BD-5C7E-4920-BFDC-60B5B9F0885A}"/>
              </a:ext>
            </a:extLst>
          </p:cNvPr>
          <p:cNvSpPr>
            <a:spLocks noGrp="1"/>
          </p:cNvSpPr>
          <p:nvPr/>
        </p:nvSpPr>
        <p:spPr>
          <a:xfrm>
            <a:off x="914400" y="2857500"/>
            <a:ext cx="10972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2700" b="1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defPPr>
            <a:lvl1pPr>
              <a:defRPr sz="2700" b="1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1pPr>
            <a:lvl2pPr>
              <a:defRPr sz="2700" b="1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2pPr>
            <a:lvl3pPr>
              <a:defRPr sz="2700" b="1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3pPr>
            <a:lvl4pPr>
              <a:defRPr sz="2700" b="1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4pPr>
            <a:lvl5pPr>
              <a:defRPr sz="2700" b="1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5pPr>
            <a:lvl6pPr>
              <a:defRPr sz="2700" b="1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6pPr>
            <a:lvl7pPr>
              <a:defRPr sz="2700" b="1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7pPr>
            <a:lvl8pPr>
              <a:defRPr sz="2700" b="1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8pPr>
            <a:lvl9pPr>
              <a:defRPr sz="2700" b="1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>
              <a:defRPr sz="2700" b="1">
                <a:solidFill>
                  <a:srgbClr val="333333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333333"/>
                </a:solidFill>
                <a:latin typeface="NanumGothic"/>
                <a:ea typeface="NanumGothic"/>
                <a:cs typeface="NanumGothic"/>
              </a:rPr>
              <a:t>스켈레탈 메시 절단으로의 이동</a:t>
            </a:r>
          </a:p>
        </p:txBody>
      </p:sp>
    </p:spTree>
    <p:extLst>
      <p:ext uri="{BB962C8B-B14F-4D97-AF65-F5344CB8AC3E}">
        <p14:creationId xmlns:p14="http://schemas.microsoft.com/office/powerpoint/2010/main" val="1398746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146</Words>
  <Application>Microsoft Office PowerPoint</Application>
  <PresentationFormat>와이드스크린</PresentationFormat>
  <Paragraphs>38</Paragraphs>
  <Slides>18</Slides>
  <Notes>0</Notes>
  <HiddenSlides>0</HiddenSlides>
  <MMClips>3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스켈레탈 메시 절단 시스템</vt:lpstr>
      <vt:lpstr>주제 수정</vt:lpstr>
      <vt:lpstr>주제 수정</vt:lpstr>
      <vt:lpstr>주제 수정</vt:lpstr>
      <vt:lpstr>주제 수정</vt:lpstr>
      <vt:lpstr>진행 상황</vt:lpstr>
      <vt:lpstr>미니엔진 구조</vt:lpstr>
      <vt:lpstr>Procedural Mesh</vt:lpstr>
      <vt:lpstr>Procedural Mesh</vt:lpstr>
      <vt:lpstr>절단</vt:lpstr>
      <vt:lpstr>절단</vt:lpstr>
      <vt:lpstr>절단</vt:lpstr>
      <vt:lpstr>단면 생성</vt:lpstr>
      <vt:lpstr>단면 생성</vt:lpstr>
      <vt:lpstr>단면 생성</vt:lpstr>
      <vt:lpstr>결과</vt:lpstr>
      <vt:lpstr>결과</vt:lpstr>
      <vt:lpstr>다음 할 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ㅇ</dc:title>
  <dc:creator>박은수</dc:creator>
  <cp:lastModifiedBy>박은수</cp:lastModifiedBy>
  <cp:revision>70</cp:revision>
  <dcterms:created xsi:type="dcterms:W3CDTF">2026-10-23T00:55:12Z</dcterms:created>
  <dcterms:modified xsi:type="dcterms:W3CDTF">2026-10-23T04:41:48Z</dcterms:modified>
</cp:coreProperties>
</file>